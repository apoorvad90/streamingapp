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ba1ccfff-3470-007e-edc3-17e03e987f67}">
          <p14:sldIdLst>
            <p14:sldId id="256"/>
            <p14:sldId id="257"/>
            <p14:sldId id="258"/>
          </p14:sldIdLst>
        </p14:section>
        <p14:section name="Sprint 3: Configuration Management" id="{3448ed03-db25-2b9b-22aa-49af4a62f2fc}">
          <p14:sldIdLst>
            <p14:sldId id="259"/>
          </p14:sldIdLst>
        </p14:section>
        <p14:section name="Sprint 4: CI/CD to EKS" id="{4d52f5c2-b302-555b-12a0-c7619f7d3b86}">
          <p14:sldIdLst>
            <p14:sldId id="260"/>
            <p14:sldId id="261"/>
          </p14:sldIdLst>
        </p14:section>
        <p14:section name="Hardening" id="{295445d0-be3e-7ab9-072d-ab00d3db6d6c}">
          <p14:sldIdLst>
            <p14:sldId id="262"/>
            <p14:sldId id="263"/>
          </p14:sldIdLst>
        </p14:section>
        <p14:section name="Execution" id="{b683b844-24e3-3c0b-f7b6-0311f10a1b90}">
          <p14:sldIdLst>
            <p14:sldId id="264"/>
            <p14:sldId id="265"/>
            <p14:sldId id="266"/>
            <p14:sldId id="267"/>
          </p14:sldIdLst>
        </p14:section>
        <p14:section name="Next Steps" id="{05adea96-9155-4112-91fc-7ebc855e1c97}">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Sprints 3 and 4 of the StreamingApp capstone: Ansible-driven configuration through Jenkins (Sprint 3) and an automated CI/CD pipeline that deploys to EKS on every push (Sprint 4). Everything shown was run on real AWS infrastructure on 16 Oct 2026, then torn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numbers. Three Jenkins jobs, chained so that a Terraform apply automatically triggers Ansible. Twelve real unit tests. Five images per commit, tagged with the git SHA. Build #5 of the app pipeline passed every stage, including smoke tests through the AWS load balancer.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jobs, all defined as code in the repository. The infra job runs Terraform with a manual approval before apply; on success it triggers the Ansible job automatically, which is the Sprint 3 requirement. The application job is a multibranch pipeline triggered by the GitHub webhook on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playbooks. site.yml configures the Jenkins server from the dynamic EC2 inventory; k8s-bootstrap.yml configures the cluster itself, which used to be manual. The evidence is Ansible build #1, which Jenkins records as started by the infra job, build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stages of the application pipeline. Deploy and smoke tests run on the main delivery branches; every other branch still tests and builds. Build #5 passed all stages. Earlier builds failed on two cluster issues covered on the issues slides: no default StorageClass, and node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Resilience features required by Sprint 4: health checks and autoscaling. Services start at one replica to fit three small Free Tier nodes and scale out under load; the HPA demo showed replicas rising under generated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findings from earlier assignments and how each is prevented here. Validation rules in Terraform and guards in the Helm chart make the protections enforced, not just conventions.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moving part is pinned. Terraform validation rejects unpinned add-on versions and malformed AMI IDs, so a missing pin fails at plan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Problems hit while provisioning on the Free plan, each with its root cause. The admin-entry issue was caught by reviewing the plan before approving it: a habit worth keeping.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failures and their fixes. Builds 3 and 4 failed in the Deploy stage for cluster reasons, not application reasons; build 5 passed after both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claim maps to a screenshot in the Sprint 3 progress document: stage views, the upstream trigger, webhook deliveries, ECR image tags, kubectl output, HPA scaling and the app in a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management on the Free plan. EKS, the NAT gateway and the load balancer have no free allowance, so the environment was paused between sessions and fully torn down once evidence was captured. It can be rebuilt from the runbook in about 30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and what comes next: monitoring and alerting in Sprint 5, then testing, documentation and final validation in Sprint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417320"/>
            <a:ext cx="8229600" cy="411480"/>
          </a:xfrm>
          <a:prstGeom prst="rect">
            <a:avLst/>
          </a:prstGeom>
          <a:noFill/>
          <a:ln/>
        </p:spPr>
        <p:txBody>
          <a:bodyPr wrap="square" rtlCol="0"/>
          <a:lstStyle>
            <a:lvl1pPr algn="l" indent="0" marL="0">
              <a:buNone/>
              <a:defRPr lang="en-US" sz="1600" b="1" spc="300" kern="0" dirty="0">
                <a:solidFill>
                  <a:schemeClr val="accent1"/>
                </a:solidFill>
              </a:defRPr>
            </a:lvl1pPr>
          </a:lstStyle>
          <a:p>
            <a:pPr algn="l" indent="0" marL="0">
              <a:buNone/>
            </a:pPr>
            <a:endParaRPr lang="en-US" sz="1600" dirty="0"/>
          </a:p>
        </p:txBody>
      </p:sp>
      <p:sp>
        <p:nvSpPr>
          <p:cNvPr id="3" name="Text 0"/>
          <p:cNvSpPr/>
          <p:nvPr>
            <p:ph idx="101" type="title" hasCustomPrompt="1"/>
          </p:nvPr>
        </p:nvSpPr>
        <p:spPr>
          <a:xfrm>
            <a:off x="822960" y="1920240"/>
            <a:ext cx="868680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822960" y="3977640"/>
            <a:ext cx="8686800" cy="822960"/>
          </a:xfrm>
          <a:prstGeom prst="rect">
            <a:avLst/>
          </a:prstGeom>
          <a:noFill/>
          <a:ln/>
        </p:spPr>
        <p:txBody>
          <a:bodyPr wrap="square" rtlCol="0"/>
          <a:lstStyle>
            <a:lvl1pPr algn="l" indent="0" marL="0">
              <a:buNone/>
              <a:defRPr lang="en-US" sz="1800" i="1" dirty="0">
                <a:solidFill>
                  <a:schemeClr val="accent6"/>
                </a:solidFill>
              </a:defRPr>
            </a:lvl1pPr>
          </a:lstStyle>
          <a:p>
            <a:pPr algn="l" indent="0" marL="0">
              <a:buNone/>
            </a:pPr>
            <a:endParaRPr lang="en-US" sz="1800" dirty="0"/>
          </a:p>
        </p:txBody>
      </p:sp>
      <p:sp>
        <p:nvSpPr>
          <p:cNvPr id="5" name="Text 0"/>
          <p:cNvSpPr/>
          <p:nvPr/>
        </p:nvSpPr>
        <p:spPr>
          <a:xfrm>
            <a:off x="822960" y="6126480"/>
            <a:ext cx="5486400" cy="320040"/>
          </a:xfrm>
          <a:prstGeom prst="rect">
            <a:avLst/>
          </a:prstGeom>
          <a:noFill/>
          <a:ln/>
        </p:spPr>
        <p:txBody>
          <a:bodyPr wrap="square" lIns="0" tIns="0" rIns="0" bIns="0" rtlCol="0" anchor="ctr"/>
          <a:lstStyle/>
          <a:p>
            <a:pPr indent="0" marL="0">
              <a:buNone/>
            </a:pPr>
            <a:r>
              <a:rPr lang="en-US" sz="1100" dirty="0">
                <a:solidFill>
                  <a:schemeClr val="accent4"/>
                </a:solidFill>
              </a:rPr>
              <a:t>StreamingApp  ·  Capstone Project</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ph idx="101" type="body" hasCustomPrompt="1"/>
          </p:nvPr>
        </p:nvSpPr>
        <p:spPr>
          <a:xfrm>
            <a:off x="548640" y="1005840"/>
            <a:ext cx="11064240" cy="411480"/>
          </a:xfrm>
          <a:prstGeom prst="rect">
            <a:avLst/>
          </a:prstGeom>
          <a:noFill/>
          <a:ln/>
        </p:spPr>
        <p:txBody>
          <a:bodyPr wrap="square" rtlCol="0"/>
          <a:lstStyle>
            <a:lvl1pPr algn="l" indent="0" marL="0">
              <a:buNone/>
              <a:defRPr lang="en-US" sz="1600" dirty="0">
                <a:solidFill>
                  <a:schemeClr val="accent4"/>
                </a:solidFill>
              </a:defRPr>
            </a:lvl1pPr>
          </a:lstStyle>
          <a:p>
            <a:pPr algn="l" indent="0" marL="0">
              <a:buNone/>
            </a:pPr>
            <a:endParaRPr lang="en-US" sz="16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Sprints 3 &amp; 4 Progress  ·  StreamingApp</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331720"/>
            <a:ext cx="10515600" cy="822960"/>
          </a:xfrm>
          <a:prstGeom prst="rect">
            <a:avLst/>
          </a:prstGeom>
          <a:noFill/>
          <a:ln/>
        </p:spPr>
        <p:txBody>
          <a:bodyPr wrap="square" rtlCol="0"/>
          <a:lstStyle>
            <a:lvl1pPr algn="ctr" indent="0" marL="0">
              <a:buNone/>
              <a:defRPr lang="en-US" sz="4000" b="1" dirty="0">
                <a:solidFill>
                  <a:schemeClr val="bg1"/>
                </a:solidFill>
              </a:defRPr>
            </a:lvl1pPr>
          </a:lstStyle>
          <a:p>
            <a:pPr algn="ctr" indent="0" marL="0">
              <a:buNone/>
            </a:pPr>
            <a:endParaRPr lang="en-US" sz="4000" dirty="0"/>
          </a:p>
        </p:txBody>
      </p:sp>
      <p:sp>
        <p:nvSpPr>
          <p:cNvPr id="3" name="Text 0"/>
          <p:cNvSpPr/>
          <p:nvPr>
            <p:ph idx="101" type="body" hasCustomPrompt="1"/>
          </p:nvPr>
        </p:nvSpPr>
        <p:spPr>
          <a:xfrm>
            <a:off x="1737360" y="3200400"/>
            <a:ext cx="8686800" cy="731520"/>
          </a:xfrm>
          <a:prstGeom prst="rect">
            <a:avLst/>
          </a:prstGeom>
          <a:noFill/>
          <a:ln/>
        </p:spPr>
        <p:txBody>
          <a:bodyPr wrap="square" rtlCol="0"/>
          <a:lstStyle>
            <a:lvl1pPr algn="ctr" indent="0" marL="0">
              <a:buNone/>
              <a:defRPr lang="en-US" sz="1800" dirty="0">
                <a:solidFill>
                  <a:schemeClr val="accent6"/>
                </a:solidFill>
              </a:defRPr>
            </a:lvl1pPr>
          </a:lstStyle>
          <a:p>
            <a:pPr algn="ctr" indent="0" marL="0">
              <a:buNone/>
            </a:pPr>
            <a:endParaRPr lang="en-US" sz="18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Sprints 3 &amp; 4 Progress  ·  StreamingApp</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417320"/>
            <a:ext cx="8229600" cy="411480"/>
          </a:xfrm>
          <a:prstGeom prst="rect">
            <a:avLst/>
          </a:prstGeom>
          <a:noFill/>
          <a:ln/>
        </p:spPr>
        <p:txBody>
          <a:bodyPr wrap="square" lIns="0" tIns="0" rIns="0" bIns="0" rtlCol="0"/>
          <a:lstStyle/>
          <a:p>
            <a:pPr algn="l" indent="0" marL="0">
              <a:buNone/>
            </a:pPr>
            <a:r>
              <a:rPr lang="en-US" sz="1600" b="1" spc="300" kern="0" dirty="0">
                <a:solidFill>
                  <a:schemeClr val="accent1"/>
                </a:solidFill>
              </a:rPr>
              <a:t>SPRINTS 3 &amp; 4  ·  PROGRESS UPDATE</a:t>
            </a:r>
            <a:endParaRPr lang="en-US" sz="1600" dirty="0"/>
          </a:p>
        </p:txBody>
      </p:sp>
      <p:sp>
        <p:nvSpPr>
          <p:cNvPr id="3" name="Text 0"/>
          <p:cNvSpPr/>
          <p:nvPr>
            <p:ph idx="101" type="title" hasCustomPrompt="1"/>
          </p:nvPr>
        </p:nvSpPr>
        <p:spPr>
          <a:xfrm>
            <a:off x="822960" y="1920240"/>
            <a:ext cx="8686800" cy="1737360"/>
          </a:xfrm>
          <a:prstGeom prst="rect">
            <a:avLst/>
          </a:prstGeom>
          <a:noFill/>
          <a:ln/>
        </p:spPr>
        <p:txBody>
          <a:bodyPr wrap="square" lIns="0" tIns="0" rIns="0" bIns="0" rtlCol="0" anchor="t"/>
          <a:lstStyle/>
          <a:p>
            <a:pPr algn="l" indent="0" marL="0">
              <a:buNone/>
            </a:pPr>
            <a:r>
              <a:rPr lang="en-US" sz="4400" b="1" dirty="0">
                <a:solidFill>
                  <a:schemeClr val="bg1"/>
                </a:solidFill>
              </a:rPr>
              <a:t>Automated Delivery: From Git Push to EKS</a:t>
            </a:r>
            <a:endParaRPr lang="en-US" sz="4400" dirty="0"/>
          </a:p>
        </p:txBody>
      </p:sp>
      <p:sp>
        <p:nvSpPr>
          <p:cNvPr id="4" name="Text 0"/>
          <p:cNvSpPr/>
          <p:nvPr>
            <p:ph idx="102" type="body" hasCustomPrompt="1"/>
          </p:nvPr>
        </p:nvSpPr>
        <p:spPr>
          <a:xfrm>
            <a:off x="822960" y="3977640"/>
            <a:ext cx="8686800" cy="822960"/>
          </a:xfrm>
          <a:prstGeom prst="rect">
            <a:avLst/>
          </a:prstGeom>
          <a:noFill/>
          <a:ln/>
        </p:spPr>
        <p:txBody>
          <a:bodyPr wrap="square" lIns="0" tIns="0" rIns="0" bIns="0" rtlCol="0" anchor="t"/>
          <a:lstStyle/>
          <a:p>
            <a:pPr algn="l" indent="0" marL="0">
              <a:buNone/>
            </a:pPr>
            <a:r>
              <a:rPr lang="en-US" sz="1800" i="1" dirty="0">
                <a:solidFill>
                  <a:schemeClr val="accent6"/>
                </a:solidFill>
              </a:rPr>
              <a:t>Configuration management with Ansible and a full CI/CD pipeline, verified end to end on a freshly provisioned AWS environment</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At a Glance</a:t>
            </a:r>
            <a:endParaRPr lang="en-US" sz="34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algn="l" indent="0" marL="0">
              <a:buNone/>
            </a:pPr>
            <a:r>
              <a:rPr lang="en-US" sz="1600" dirty="0">
                <a:solidFill>
                  <a:schemeClr val="accent4"/>
                </a:solidFill>
              </a:rPr>
              <a:t>Both sprints delivered and verified on real AWS infrastructure, 16 Oct 2026</a:t>
            </a:r>
            <a:endParaRPr lang="en-US" sz="1600" dirty="0"/>
          </a:p>
        </p:txBody>
      </p:sp>
      <p:sp>
        <p:nvSpPr>
          <p:cNvPr id="4" name="Stat card 1"/>
          <p:cNvSpPr/>
          <p:nvPr/>
        </p:nvSpPr>
        <p:spPr>
          <a:xfrm>
            <a:off x="548640" y="1828800"/>
            <a:ext cx="2606040" cy="3931920"/>
          </a:xfrm>
          <a:prstGeom prst="roundRect">
            <a:avLst>
              <a:gd name="adj" fmla="val 4211"/>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5" name="Stat 1 circle"/>
          <p:cNvSpPr/>
          <p:nvPr/>
        </p:nvSpPr>
        <p:spPr>
          <a:xfrm>
            <a:off x="868680" y="2194560"/>
            <a:ext cx="685800" cy="685800"/>
          </a:xfrm>
          <a:prstGeom prst="ellipse">
            <a:avLst/>
          </a:prstGeom>
          <a:solidFill>
            <a:schemeClr val="accent1"/>
          </a:solidFill>
          <a:ln w="12700">
            <a:solidFill>
              <a:schemeClr val="accent1"/>
            </a:solidFill>
            <a:prstDash val="solid"/>
          </a:ln>
        </p:spPr>
      </p:sp>
      <p:pic>
        <p:nvPicPr>
          <p:cNvPr id="6" name="Stat 1 icon" descr="preencoded.png">    </p:cNvPr>
          <p:cNvPicPr>
            <a:picLocks noChangeAspect="1"/>
          </p:cNvPicPr>
          <p:nvPr/>
        </p:nvPicPr>
        <p:blipFill>
          <a:blip r:embed="rId1"/>
          <a:stretch>
            <a:fillRect/>
          </a:stretch>
        </p:blipFill>
        <p:spPr>
          <a:xfrm>
            <a:off x="1033272" y="2359152"/>
            <a:ext cx="356616" cy="356616"/>
          </a:xfrm>
          <a:prstGeom prst="rect">
            <a:avLst/>
          </a:prstGeom>
        </p:spPr>
      </p:pic>
      <p:sp>
        <p:nvSpPr>
          <p:cNvPr id="7" name="Stat 1 value"/>
          <p:cNvSpPr txBox="1"/>
          <p:nvPr/>
        </p:nvSpPr>
        <p:spPr>
          <a:xfrm>
            <a:off x="868680" y="3063240"/>
            <a:ext cx="1965960" cy="914400"/>
          </a:xfrm>
          <a:prstGeom prst="rect">
            <a:avLst/>
          </a:prstGeom>
          <a:noFill/>
          <a:ln/>
        </p:spPr>
        <p:txBody>
          <a:bodyPr wrap="square" lIns="0" tIns="0" rIns="0" bIns="0" rtlCol="0" anchor="t"/>
          <a:lstStyle/>
          <a:p>
            <a:pPr indent="0" marL="0">
              <a:buNone/>
            </a:pPr>
            <a:r>
              <a:rPr lang="en-US" sz="6000" b="1" dirty="0">
                <a:solidFill>
                  <a:schemeClr val="tx2"/>
                </a:solidFill>
              </a:rPr>
              <a:t>3</a:t>
            </a:r>
            <a:endParaRPr lang="en-US" sz="6000" dirty="0"/>
          </a:p>
        </p:txBody>
      </p:sp>
      <p:sp>
        <p:nvSpPr>
          <p:cNvPr id="8" name="Stat 1 label"/>
          <p:cNvSpPr txBox="1"/>
          <p:nvPr/>
        </p:nvSpPr>
        <p:spPr>
          <a:xfrm>
            <a:off x="868680" y="4023360"/>
            <a:ext cx="1965960" cy="365760"/>
          </a:xfrm>
          <a:prstGeom prst="rect">
            <a:avLst/>
          </a:prstGeom>
          <a:noFill/>
          <a:ln/>
        </p:spPr>
        <p:txBody>
          <a:bodyPr wrap="square" lIns="0" tIns="0" rIns="0" bIns="0" rtlCol="0" anchor="t"/>
          <a:lstStyle/>
          <a:p>
            <a:pPr indent="0" marL="0">
              <a:buNone/>
            </a:pPr>
            <a:r>
              <a:rPr lang="en-US" sz="1800" b="1" dirty="0">
                <a:solidFill>
                  <a:schemeClr val="accent1"/>
                </a:solidFill>
              </a:rPr>
              <a:t>Jenkins jobs</a:t>
            </a:r>
            <a:endParaRPr lang="en-US" sz="1800" dirty="0"/>
          </a:p>
        </p:txBody>
      </p:sp>
      <p:sp>
        <p:nvSpPr>
          <p:cNvPr id="9" name="Stat 1 detail"/>
          <p:cNvSpPr txBox="1"/>
          <p:nvPr/>
        </p:nvSpPr>
        <p:spPr>
          <a:xfrm>
            <a:off x="868680" y="4480560"/>
            <a:ext cx="1965960" cy="1097280"/>
          </a:xfrm>
          <a:prstGeom prst="rect">
            <a:avLst/>
          </a:prstGeom>
          <a:noFill/>
          <a:ln/>
        </p:spPr>
        <p:txBody>
          <a:bodyPr wrap="square" lIns="0" tIns="0" rIns="0" bIns="0" rtlCol="0" anchor="t"/>
          <a:lstStyle/>
          <a:p>
            <a:pPr indent="0" marL="0">
              <a:buNone/>
            </a:pPr>
            <a:r>
              <a:rPr lang="en-US" sz="1400" dirty="0">
                <a:solidFill>
                  <a:schemeClr val="tx1"/>
                </a:solidFill>
              </a:rPr>
              <a:t>Chained: Terraform → Ansible run automatically; the app pipeline runs on every push</a:t>
            </a:r>
            <a:endParaRPr lang="en-US" sz="1400" dirty="0"/>
          </a:p>
        </p:txBody>
      </p:sp>
      <p:sp>
        <p:nvSpPr>
          <p:cNvPr id="10" name="Stat card 2"/>
          <p:cNvSpPr/>
          <p:nvPr/>
        </p:nvSpPr>
        <p:spPr>
          <a:xfrm>
            <a:off x="3383280" y="1828800"/>
            <a:ext cx="2606040" cy="3931920"/>
          </a:xfrm>
          <a:prstGeom prst="roundRect">
            <a:avLst>
              <a:gd name="adj" fmla="val 4211"/>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11" name="Stat 2 circle"/>
          <p:cNvSpPr/>
          <p:nvPr/>
        </p:nvSpPr>
        <p:spPr>
          <a:xfrm>
            <a:off x="3703320" y="2194560"/>
            <a:ext cx="685800" cy="685800"/>
          </a:xfrm>
          <a:prstGeom prst="ellipse">
            <a:avLst/>
          </a:prstGeom>
          <a:solidFill>
            <a:schemeClr val="accent1"/>
          </a:solidFill>
          <a:ln w="12700">
            <a:solidFill>
              <a:schemeClr val="accent1"/>
            </a:solidFill>
            <a:prstDash val="solid"/>
          </a:ln>
        </p:spPr>
      </p:sp>
      <p:pic>
        <p:nvPicPr>
          <p:cNvPr id="12" name="Stat 2 icon" descr="preencoded.png">    </p:cNvPr>
          <p:cNvPicPr>
            <a:picLocks noChangeAspect="1"/>
          </p:cNvPicPr>
          <p:nvPr/>
        </p:nvPicPr>
        <p:blipFill>
          <a:blip r:embed="rId2"/>
          <a:stretch>
            <a:fillRect/>
          </a:stretch>
        </p:blipFill>
        <p:spPr>
          <a:xfrm>
            <a:off x="3867912" y="2359152"/>
            <a:ext cx="356616" cy="356616"/>
          </a:xfrm>
          <a:prstGeom prst="rect">
            <a:avLst/>
          </a:prstGeom>
        </p:spPr>
      </p:pic>
      <p:sp>
        <p:nvSpPr>
          <p:cNvPr id="13" name="Stat 2 value"/>
          <p:cNvSpPr txBox="1"/>
          <p:nvPr/>
        </p:nvSpPr>
        <p:spPr>
          <a:xfrm>
            <a:off x="3703320" y="3063240"/>
            <a:ext cx="1965960" cy="914400"/>
          </a:xfrm>
          <a:prstGeom prst="rect">
            <a:avLst/>
          </a:prstGeom>
          <a:noFill/>
          <a:ln/>
        </p:spPr>
        <p:txBody>
          <a:bodyPr wrap="square" lIns="0" tIns="0" rIns="0" bIns="0" rtlCol="0" anchor="t"/>
          <a:lstStyle/>
          <a:p>
            <a:pPr indent="0" marL="0">
              <a:buNone/>
            </a:pPr>
            <a:r>
              <a:rPr lang="en-US" sz="6000" b="1" dirty="0">
                <a:solidFill>
                  <a:schemeClr val="tx2"/>
                </a:solidFill>
              </a:rPr>
              <a:t>12</a:t>
            </a:r>
            <a:endParaRPr lang="en-US" sz="6000" dirty="0"/>
          </a:p>
        </p:txBody>
      </p:sp>
      <p:sp>
        <p:nvSpPr>
          <p:cNvPr id="14" name="Stat 2 label"/>
          <p:cNvSpPr txBox="1"/>
          <p:nvPr/>
        </p:nvSpPr>
        <p:spPr>
          <a:xfrm>
            <a:off x="3703320" y="4023360"/>
            <a:ext cx="1965960" cy="365760"/>
          </a:xfrm>
          <a:prstGeom prst="rect">
            <a:avLst/>
          </a:prstGeom>
          <a:noFill/>
          <a:ln/>
        </p:spPr>
        <p:txBody>
          <a:bodyPr wrap="square" lIns="0" tIns="0" rIns="0" bIns="0" rtlCol="0" anchor="t"/>
          <a:lstStyle/>
          <a:p>
            <a:pPr indent="0" marL="0">
              <a:buNone/>
            </a:pPr>
            <a:r>
              <a:rPr lang="en-US" sz="1800" b="1" dirty="0">
                <a:solidFill>
                  <a:schemeClr val="accent1"/>
                </a:solidFill>
              </a:rPr>
              <a:t>real unit tests</a:t>
            </a:r>
            <a:endParaRPr lang="en-US" sz="1800" dirty="0"/>
          </a:p>
        </p:txBody>
      </p:sp>
      <p:sp>
        <p:nvSpPr>
          <p:cNvPr id="15" name="Stat 2 detail"/>
          <p:cNvSpPr txBox="1"/>
          <p:nvPr/>
        </p:nvSpPr>
        <p:spPr>
          <a:xfrm>
            <a:off x="3703320" y="4480560"/>
            <a:ext cx="1965960" cy="1097280"/>
          </a:xfrm>
          <a:prstGeom prst="rect">
            <a:avLst/>
          </a:prstGeom>
          <a:noFill/>
          <a:ln/>
        </p:spPr>
        <p:txBody>
          <a:bodyPr wrap="square" lIns="0" tIns="0" rIns="0" bIns="0" rtlCol="0" anchor="t"/>
          <a:lstStyle/>
          <a:p>
            <a:pPr indent="0" marL="0">
              <a:buNone/>
            </a:pPr>
            <a:r>
              <a:rPr lang="en-US" sz="1400" dirty="0">
                <a:solidFill>
                  <a:schemeClr val="tx1"/>
                </a:solidFill>
              </a:rPr>
              <a:t>Jest suites for all four services and the frontend replace placeholder scripts</a:t>
            </a:r>
            <a:endParaRPr lang="en-US" sz="1400" dirty="0"/>
          </a:p>
        </p:txBody>
      </p:sp>
      <p:sp>
        <p:nvSpPr>
          <p:cNvPr id="16" name="Stat card 3"/>
          <p:cNvSpPr/>
          <p:nvPr/>
        </p:nvSpPr>
        <p:spPr>
          <a:xfrm>
            <a:off x="6217920" y="1828800"/>
            <a:ext cx="2606040" cy="3931920"/>
          </a:xfrm>
          <a:prstGeom prst="roundRect">
            <a:avLst>
              <a:gd name="adj" fmla="val 4211"/>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17" name="Stat 3 circle"/>
          <p:cNvSpPr/>
          <p:nvPr/>
        </p:nvSpPr>
        <p:spPr>
          <a:xfrm>
            <a:off x="6537960" y="2194560"/>
            <a:ext cx="685800" cy="685800"/>
          </a:xfrm>
          <a:prstGeom prst="ellipse">
            <a:avLst/>
          </a:prstGeom>
          <a:solidFill>
            <a:schemeClr val="accent1"/>
          </a:solidFill>
          <a:ln w="12700">
            <a:solidFill>
              <a:schemeClr val="accent1"/>
            </a:solidFill>
            <a:prstDash val="solid"/>
          </a:ln>
        </p:spPr>
      </p:sp>
      <p:pic>
        <p:nvPicPr>
          <p:cNvPr id="18" name="Stat 3 icon" descr="preencoded.png">    </p:cNvPr>
          <p:cNvPicPr>
            <a:picLocks noChangeAspect="1"/>
          </p:cNvPicPr>
          <p:nvPr/>
        </p:nvPicPr>
        <p:blipFill>
          <a:blip r:embed="rId3"/>
          <a:stretch>
            <a:fillRect/>
          </a:stretch>
        </p:blipFill>
        <p:spPr>
          <a:xfrm>
            <a:off x="6702552" y="2359152"/>
            <a:ext cx="356616" cy="356616"/>
          </a:xfrm>
          <a:prstGeom prst="rect">
            <a:avLst/>
          </a:prstGeom>
        </p:spPr>
      </p:pic>
      <p:sp>
        <p:nvSpPr>
          <p:cNvPr id="19" name="Stat 3 value"/>
          <p:cNvSpPr txBox="1"/>
          <p:nvPr/>
        </p:nvSpPr>
        <p:spPr>
          <a:xfrm>
            <a:off x="6537960" y="3063240"/>
            <a:ext cx="1965960" cy="914400"/>
          </a:xfrm>
          <a:prstGeom prst="rect">
            <a:avLst/>
          </a:prstGeom>
          <a:noFill/>
          <a:ln/>
        </p:spPr>
        <p:txBody>
          <a:bodyPr wrap="square" lIns="0" tIns="0" rIns="0" bIns="0" rtlCol="0" anchor="t"/>
          <a:lstStyle/>
          <a:p>
            <a:pPr indent="0" marL="0">
              <a:buNone/>
            </a:pPr>
            <a:r>
              <a:rPr lang="en-US" sz="6000" b="1" dirty="0">
                <a:solidFill>
                  <a:schemeClr val="tx2"/>
                </a:solidFill>
              </a:rPr>
              <a:t>5</a:t>
            </a:r>
            <a:endParaRPr lang="en-US" sz="6000" dirty="0"/>
          </a:p>
        </p:txBody>
      </p:sp>
      <p:sp>
        <p:nvSpPr>
          <p:cNvPr id="20" name="Stat 3 label"/>
          <p:cNvSpPr txBox="1"/>
          <p:nvPr/>
        </p:nvSpPr>
        <p:spPr>
          <a:xfrm>
            <a:off x="6537960" y="4023360"/>
            <a:ext cx="1965960" cy="365760"/>
          </a:xfrm>
          <a:prstGeom prst="rect">
            <a:avLst/>
          </a:prstGeom>
          <a:noFill/>
          <a:ln/>
        </p:spPr>
        <p:txBody>
          <a:bodyPr wrap="square" lIns="0" tIns="0" rIns="0" bIns="0" rtlCol="0" anchor="t"/>
          <a:lstStyle/>
          <a:p>
            <a:pPr indent="0" marL="0">
              <a:buNone/>
            </a:pPr>
            <a:r>
              <a:rPr lang="en-US" sz="1800" b="1" dirty="0">
                <a:solidFill>
                  <a:schemeClr val="accent1"/>
                </a:solidFill>
              </a:rPr>
              <a:t>images per commit</a:t>
            </a:r>
            <a:endParaRPr lang="en-US" sz="1800" dirty="0"/>
          </a:p>
        </p:txBody>
      </p:sp>
      <p:sp>
        <p:nvSpPr>
          <p:cNvPr id="21" name="Stat 3 detail"/>
          <p:cNvSpPr txBox="1"/>
          <p:nvPr/>
        </p:nvSpPr>
        <p:spPr>
          <a:xfrm>
            <a:off x="6537960" y="4480560"/>
            <a:ext cx="1965960" cy="1097280"/>
          </a:xfrm>
          <a:prstGeom prst="rect">
            <a:avLst/>
          </a:prstGeom>
          <a:noFill/>
          <a:ln/>
        </p:spPr>
        <p:txBody>
          <a:bodyPr wrap="square" lIns="0" tIns="0" rIns="0" bIns="0" rtlCol="0" anchor="t"/>
          <a:lstStyle/>
          <a:p>
            <a:pPr indent="0" marL="0">
              <a:buNone/>
            </a:pPr>
            <a:r>
              <a:rPr lang="en-US" sz="1400" dirty="0">
                <a:solidFill>
                  <a:schemeClr val="tx1"/>
                </a:solidFill>
              </a:rPr>
              <a:t>Built, tagged with the git SHA and pushed to immutable ECR repositories</a:t>
            </a:r>
            <a:endParaRPr lang="en-US" sz="1400" dirty="0"/>
          </a:p>
        </p:txBody>
      </p:sp>
      <p:sp>
        <p:nvSpPr>
          <p:cNvPr id="22" name="Stat card 4"/>
          <p:cNvSpPr/>
          <p:nvPr/>
        </p:nvSpPr>
        <p:spPr>
          <a:xfrm>
            <a:off x="9052560" y="1828800"/>
            <a:ext cx="2606040" cy="3931920"/>
          </a:xfrm>
          <a:prstGeom prst="roundRect">
            <a:avLst>
              <a:gd name="adj" fmla="val 4211"/>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23" name="Stat 4 circle"/>
          <p:cNvSpPr/>
          <p:nvPr/>
        </p:nvSpPr>
        <p:spPr>
          <a:xfrm>
            <a:off x="9372600" y="2194560"/>
            <a:ext cx="685800" cy="685800"/>
          </a:xfrm>
          <a:prstGeom prst="ellipse">
            <a:avLst/>
          </a:prstGeom>
          <a:solidFill>
            <a:schemeClr val="accent1"/>
          </a:solidFill>
          <a:ln w="12700">
            <a:solidFill>
              <a:schemeClr val="accent1"/>
            </a:solidFill>
            <a:prstDash val="solid"/>
          </a:ln>
        </p:spPr>
      </p:sp>
      <p:pic>
        <p:nvPicPr>
          <p:cNvPr id="24" name="Stat 4 icon" descr="preencoded.png">    </p:cNvPr>
          <p:cNvPicPr>
            <a:picLocks noChangeAspect="1"/>
          </p:cNvPicPr>
          <p:nvPr/>
        </p:nvPicPr>
        <p:blipFill>
          <a:blip r:embed="rId4"/>
          <a:stretch>
            <a:fillRect/>
          </a:stretch>
        </p:blipFill>
        <p:spPr>
          <a:xfrm>
            <a:off x="9537192" y="2359152"/>
            <a:ext cx="356616" cy="356616"/>
          </a:xfrm>
          <a:prstGeom prst="rect">
            <a:avLst/>
          </a:prstGeom>
        </p:spPr>
      </p:pic>
      <p:sp>
        <p:nvSpPr>
          <p:cNvPr id="25" name="Stat 4 value"/>
          <p:cNvSpPr txBox="1"/>
          <p:nvPr/>
        </p:nvSpPr>
        <p:spPr>
          <a:xfrm>
            <a:off x="9372600" y="3063240"/>
            <a:ext cx="1965960" cy="914400"/>
          </a:xfrm>
          <a:prstGeom prst="rect">
            <a:avLst/>
          </a:prstGeom>
          <a:noFill/>
          <a:ln/>
        </p:spPr>
        <p:txBody>
          <a:bodyPr wrap="square" lIns="0" tIns="0" rIns="0" bIns="0" rtlCol="0" anchor="t"/>
          <a:lstStyle/>
          <a:p>
            <a:pPr indent="0" marL="0">
              <a:buNone/>
            </a:pPr>
            <a:r>
              <a:rPr lang="en-US" sz="6000" b="1" dirty="0">
                <a:solidFill>
                  <a:schemeClr val="tx2"/>
                </a:solidFill>
              </a:rPr>
              <a:t>#5</a:t>
            </a:r>
            <a:endParaRPr lang="en-US" sz="6000" dirty="0"/>
          </a:p>
        </p:txBody>
      </p:sp>
      <p:sp>
        <p:nvSpPr>
          <p:cNvPr id="26" name="Stat 4 label"/>
          <p:cNvSpPr txBox="1"/>
          <p:nvPr/>
        </p:nvSpPr>
        <p:spPr>
          <a:xfrm>
            <a:off x="9372600" y="4023360"/>
            <a:ext cx="1965960" cy="365760"/>
          </a:xfrm>
          <a:prstGeom prst="rect">
            <a:avLst/>
          </a:prstGeom>
          <a:noFill/>
          <a:ln/>
        </p:spPr>
        <p:txBody>
          <a:bodyPr wrap="square" lIns="0" tIns="0" rIns="0" bIns="0" rtlCol="0" anchor="t"/>
          <a:lstStyle/>
          <a:p>
            <a:pPr indent="0" marL="0">
              <a:buNone/>
            </a:pPr>
            <a:r>
              <a:rPr lang="en-US" sz="1800" b="1" dirty="0">
                <a:solidFill>
                  <a:schemeClr val="accent1"/>
                </a:solidFill>
              </a:rPr>
              <a:t>app build all green</a:t>
            </a:r>
            <a:endParaRPr lang="en-US" sz="1800" dirty="0"/>
          </a:p>
        </p:txBody>
      </p:sp>
      <p:sp>
        <p:nvSpPr>
          <p:cNvPr id="27" name="Stat 4 detail"/>
          <p:cNvSpPr txBox="1"/>
          <p:nvPr/>
        </p:nvSpPr>
        <p:spPr>
          <a:xfrm>
            <a:off x="9372600" y="4480560"/>
            <a:ext cx="1965960" cy="1097280"/>
          </a:xfrm>
          <a:prstGeom prst="rect">
            <a:avLst/>
          </a:prstGeom>
          <a:noFill/>
          <a:ln/>
        </p:spPr>
        <p:txBody>
          <a:bodyPr wrap="square" lIns="0" tIns="0" rIns="0" bIns="0" rtlCol="0" anchor="t"/>
          <a:lstStyle/>
          <a:p>
            <a:pPr indent="0" marL="0">
              <a:buNone/>
            </a:pPr>
            <a:r>
              <a:rPr lang="en-US" sz="1400" dirty="0">
                <a:solidFill>
                  <a:schemeClr val="tx1"/>
                </a:solidFill>
              </a:rPr>
              <a:t>Test → build → deploy → smoke tests passed through the live load balancer</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How the Three Pipelines Fit Together</a:t>
            </a:r>
            <a:endParaRPr lang="en-US" sz="34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algn="l" indent="0" marL="0">
              <a:buNone/>
            </a:pPr>
            <a:r>
              <a:rPr lang="en-US" sz="1600" dirty="0">
                <a:solidFill>
                  <a:schemeClr val="accent4"/>
                </a:solidFill>
              </a:rPr>
              <a:t>Infrastructure and configuration run on demand with an approval gate; the application ships on every push</a:t>
            </a:r>
            <a:endParaRPr lang="en-US" sz="1600" dirty="0"/>
          </a:p>
        </p:txBody>
      </p:sp>
      <p:sp>
        <p:nvSpPr>
          <p:cNvPr id="4" name="Trigger 1"/>
          <p:cNvSpPr/>
          <p:nvPr/>
        </p:nvSpPr>
        <p:spPr>
          <a:xfrm>
            <a:off x="548640" y="1874520"/>
            <a:ext cx="3337560" cy="411480"/>
          </a:xfrm>
          <a:prstGeom prst="roundRect">
            <a:avLst>
              <a:gd name="adj" fmla="val 22222"/>
            </a:avLst>
          </a:prstGeom>
          <a:solidFill>
            <a:schemeClr val="accent6"/>
          </a:solidFill>
          <a:ln w="12700">
            <a:solidFill>
              <a:schemeClr val="accent6"/>
            </a:solidFill>
            <a:prstDash val="solid"/>
          </a:ln>
        </p:spPr>
      </p:sp>
      <p:sp>
        <p:nvSpPr>
          <p:cNvPr id="5" name="Trigger 1 text"/>
          <p:cNvSpPr txBox="1"/>
          <p:nvPr/>
        </p:nvSpPr>
        <p:spPr>
          <a:xfrm>
            <a:off x="548640" y="1874520"/>
            <a:ext cx="3337560" cy="411480"/>
          </a:xfrm>
          <a:prstGeom prst="rect">
            <a:avLst/>
          </a:prstGeom>
          <a:noFill/>
          <a:ln/>
        </p:spPr>
        <p:txBody>
          <a:bodyPr wrap="square" lIns="0" tIns="0" rIns="0" bIns="0" rtlCol="0" anchor="ctr"/>
          <a:lstStyle/>
          <a:p>
            <a:pPr algn="ctr" indent="0" marL="0">
              <a:buNone/>
            </a:pPr>
            <a:r>
              <a:rPr lang="en-US" sz="1400" b="1" dirty="0">
                <a:solidFill>
                  <a:schemeClr val="tx2"/>
                </a:solidFill>
              </a:rPr>
              <a:t>Manual  ·  plan or apply</a:t>
            </a:r>
            <a:endParaRPr lang="en-US" sz="1400" dirty="0"/>
          </a:p>
        </p:txBody>
      </p:sp>
      <p:sp>
        <p:nvSpPr>
          <p:cNvPr id="6" name="Job card 1"/>
          <p:cNvSpPr/>
          <p:nvPr/>
        </p:nvSpPr>
        <p:spPr>
          <a:xfrm>
            <a:off x="548640" y="2468880"/>
            <a:ext cx="3337560" cy="2834640"/>
          </a:xfrm>
          <a:prstGeom prst="roundRect">
            <a:avLst>
              <a:gd name="adj" fmla="val 3871"/>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7" name="Job 1 circle"/>
          <p:cNvSpPr/>
          <p:nvPr/>
        </p:nvSpPr>
        <p:spPr>
          <a:xfrm>
            <a:off x="822960" y="2743200"/>
            <a:ext cx="640080" cy="640080"/>
          </a:xfrm>
          <a:prstGeom prst="ellipse">
            <a:avLst/>
          </a:prstGeom>
          <a:solidFill>
            <a:schemeClr val="tx2"/>
          </a:solidFill>
          <a:ln w="12700">
            <a:solidFill>
              <a:schemeClr val="tx2"/>
            </a:solidFill>
            <a:prstDash val="solid"/>
          </a:ln>
        </p:spPr>
      </p:sp>
      <p:pic>
        <p:nvPicPr>
          <p:cNvPr id="8" name="Job 1 icon" descr="preencoded.png">    </p:cNvPr>
          <p:cNvPicPr>
            <a:picLocks noChangeAspect="1"/>
          </p:cNvPicPr>
          <p:nvPr/>
        </p:nvPicPr>
        <p:blipFill>
          <a:blip r:embed="rId1"/>
          <a:stretch>
            <a:fillRect/>
          </a:stretch>
        </p:blipFill>
        <p:spPr>
          <a:xfrm>
            <a:off x="976579" y="2896819"/>
            <a:ext cx="332842" cy="332842"/>
          </a:xfrm>
          <a:prstGeom prst="rect">
            <a:avLst/>
          </a:prstGeom>
        </p:spPr>
      </p:pic>
      <p:sp>
        <p:nvSpPr>
          <p:cNvPr id="9" name="Job 1 name"/>
          <p:cNvSpPr txBox="1"/>
          <p:nvPr/>
        </p:nvSpPr>
        <p:spPr>
          <a:xfrm>
            <a:off x="1600200" y="2743200"/>
            <a:ext cx="2103120" cy="365760"/>
          </a:xfrm>
          <a:prstGeom prst="rect">
            <a:avLst/>
          </a:prstGeom>
          <a:noFill/>
          <a:ln/>
        </p:spPr>
        <p:txBody>
          <a:bodyPr wrap="square" lIns="0" tIns="0" rIns="0" bIns="0" rtlCol="0" anchor="t"/>
          <a:lstStyle/>
          <a:p>
            <a:pPr indent="0" marL="0">
              <a:buNone/>
            </a:pPr>
            <a:r>
              <a:rPr lang="en-US" sz="1800" b="1" dirty="0">
                <a:solidFill>
                  <a:schemeClr val="tx2"/>
                </a:solidFill>
              </a:rPr>
              <a:t>streamingapp-infra</a:t>
            </a:r>
            <a:endParaRPr lang="en-US" sz="1800" dirty="0"/>
          </a:p>
        </p:txBody>
      </p:sp>
      <p:sp>
        <p:nvSpPr>
          <p:cNvPr id="10" name="Job 1 file"/>
          <p:cNvSpPr txBox="1"/>
          <p:nvPr/>
        </p:nvSpPr>
        <p:spPr>
          <a:xfrm>
            <a:off x="1600200" y="3108960"/>
            <a:ext cx="2103120" cy="320040"/>
          </a:xfrm>
          <a:prstGeom prst="rect">
            <a:avLst/>
          </a:prstGeom>
          <a:noFill/>
          <a:ln/>
        </p:spPr>
        <p:txBody>
          <a:bodyPr wrap="square" lIns="0" tIns="0" rIns="0" bIns="0" rtlCol="0" anchor="t"/>
          <a:lstStyle/>
          <a:p>
            <a:pPr indent="0" marL="0">
              <a:buNone/>
            </a:pPr>
            <a:r>
              <a:rPr lang="en-US" sz="1200" dirty="0">
                <a:solidFill>
                  <a:schemeClr val="accent4"/>
                </a:solidFill>
              </a:rPr>
              <a:t>jenkins/Jenkinsfile.infra</a:t>
            </a:r>
            <a:endParaRPr lang="en-US" sz="1200" dirty="0"/>
          </a:p>
        </p:txBody>
      </p:sp>
      <p:sp>
        <p:nvSpPr>
          <p:cNvPr id="11" name="Job 1 steps"/>
          <p:cNvSpPr txBox="1"/>
          <p:nvPr/>
        </p:nvSpPr>
        <p:spPr>
          <a:xfrm>
            <a:off x="868680" y="3703320"/>
            <a:ext cx="2788920" cy="18288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terraform fmt, validate, plan</a:t>
            </a:r>
            <a:endParaRPr lang="en-US" sz="1500" dirty="0"/>
          </a:p>
          <a:p>
            <a:pPr marL="203200" indent="-203200">
              <a:spcAft>
                <a:spcPts val="600"/>
              </a:spcAft>
              <a:buSzPct val="100000"/>
              <a:buChar char="•"/>
            </a:pPr>
            <a:r>
              <a:rPr lang="en-US" sz="1500" dirty="0">
                <a:solidFill>
                  <a:schemeClr val="tx1"/>
                </a:solidFill>
              </a:rPr>
              <a:t>Plan archived; manual approval</a:t>
            </a:r>
            <a:endParaRPr lang="en-US" sz="1500" dirty="0"/>
          </a:p>
          <a:p>
            <a:pPr marL="203200" indent="-203200">
              <a:spcAft>
                <a:spcPts val="600"/>
              </a:spcAft>
              <a:buSzPct val="100000"/>
              <a:buChar char="•"/>
            </a:pPr>
            <a:r>
              <a:rPr lang="en-US" sz="1500" dirty="0">
                <a:solidFill>
                  <a:schemeClr val="tx1"/>
                </a:solidFill>
              </a:rPr>
              <a:t>Apply, then trigger Ansible</a:t>
            </a:r>
            <a:endParaRPr lang="en-US" sz="1500" dirty="0"/>
          </a:p>
        </p:txBody>
      </p:sp>
      <p:sp>
        <p:nvSpPr>
          <p:cNvPr id="12" name="Trigger 2"/>
          <p:cNvSpPr/>
          <p:nvPr/>
        </p:nvSpPr>
        <p:spPr>
          <a:xfrm>
            <a:off x="4434840" y="1874520"/>
            <a:ext cx="3337560" cy="411480"/>
          </a:xfrm>
          <a:prstGeom prst="roundRect">
            <a:avLst>
              <a:gd name="adj" fmla="val 22222"/>
            </a:avLst>
          </a:prstGeom>
          <a:solidFill>
            <a:schemeClr val="accent6"/>
          </a:solidFill>
          <a:ln w="12700">
            <a:solidFill>
              <a:schemeClr val="accent6"/>
            </a:solidFill>
            <a:prstDash val="solid"/>
          </a:ln>
        </p:spPr>
      </p:sp>
      <p:sp>
        <p:nvSpPr>
          <p:cNvPr id="13" name="Trigger 2 text"/>
          <p:cNvSpPr txBox="1"/>
          <p:nvPr/>
        </p:nvSpPr>
        <p:spPr>
          <a:xfrm>
            <a:off x="4434840" y="1874520"/>
            <a:ext cx="3337560" cy="411480"/>
          </a:xfrm>
          <a:prstGeom prst="rect">
            <a:avLst/>
          </a:prstGeom>
          <a:noFill/>
          <a:ln/>
        </p:spPr>
        <p:txBody>
          <a:bodyPr wrap="square" lIns="0" tIns="0" rIns="0" bIns="0" rtlCol="0" anchor="ctr"/>
          <a:lstStyle/>
          <a:p>
            <a:pPr algn="ctr" indent="0" marL="0">
              <a:buNone/>
            </a:pPr>
            <a:r>
              <a:rPr lang="en-US" sz="1400" b="1" dirty="0">
                <a:solidFill>
                  <a:schemeClr val="tx2"/>
                </a:solidFill>
              </a:rPr>
              <a:t>Automatic  ·  after infra apply</a:t>
            </a:r>
            <a:endParaRPr lang="en-US" sz="1400" dirty="0"/>
          </a:p>
        </p:txBody>
      </p:sp>
      <p:sp>
        <p:nvSpPr>
          <p:cNvPr id="14" name="Job card 2"/>
          <p:cNvSpPr/>
          <p:nvPr/>
        </p:nvSpPr>
        <p:spPr>
          <a:xfrm>
            <a:off x="4434840" y="2468880"/>
            <a:ext cx="3337560" cy="2834640"/>
          </a:xfrm>
          <a:prstGeom prst="roundRect">
            <a:avLst>
              <a:gd name="adj" fmla="val 3871"/>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15" name="Job 2 circle"/>
          <p:cNvSpPr/>
          <p:nvPr/>
        </p:nvSpPr>
        <p:spPr>
          <a:xfrm>
            <a:off x="4709160" y="2743200"/>
            <a:ext cx="640080" cy="640080"/>
          </a:xfrm>
          <a:prstGeom prst="ellipse">
            <a:avLst/>
          </a:prstGeom>
          <a:solidFill>
            <a:schemeClr val="tx2"/>
          </a:solidFill>
          <a:ln w="12700">
            <a:solidFill>
              <a:schemeClr val="tx2"/>
            </a:solidFill>
            <a:prstDash val="solid"/>
          </a:ln>
        </p:spPr>
      </p:sp>
      <p:pic>
        <p:nvPicPr>
          <p:cNvPr id="16" name="Job 2 icon" descr="preencoded.png">    </p:cNvPr>
          <p:cNvPicPr>
            <a:picLocks noChangeAspect="1"/>
          </p:cNvPicPr>
          <p:nvPr/>
        </p:nvPicPr>
        <p:blipFill>
          <a:blip r:embed="rId2"/>
          <a:stretch>
            <a:fillRect/>
          </a:stretch>
        </p:blipFill>
        <p:spPr>
          <a:xfrm>
            <a:off x="4862779" y="2896819"/>
            <a:ext cx="332842" cy="332842"/>
          </a:xfrm>
          <a:prstGeom prst="rect">
            <a:avLst/>
          </a:prstGeom>
        </p:spPr>
      </p:pic>
      <p:sp>
        <p:nvSpPr>
          <p:cNvPr id="17" name="Job 2 name"/>
          <p:cNvSpPr txBox="1"/>
          <p:nvPr/>
        </p:nvSpPr>
        <p:spPr>
          <a:xfrm>
            <a:off x="5486400" y="2743200"/>
            <a:ext cx="2103120" cy="365760"/>
          </a:xfrm>
          <a:prstGeom prst="rect">
            <a:avLst/>
          </a:prstGeom>
          <a:noFill/>
          <a:ln/>
        </p:spPr>
        <p:txBody>
          <a:bodyPr wrap="square" lIns="0" tIns="0" rIns="0" bIns="0" rtlCol="0" anchor="t"/>
          <a:lstStyle/>
          <a:p>
            <a:pPr indent="0" marL="0">
              <a:buNone/>
            </a:pPr>
            <a:r>
              <a:rPr lang="en-US" sz="1800" b="1" dirty="0">
                <a:solidFill>
                  <a:schemeClr val="tx2"/>
                </a:solidFill>
              </a:rPr>
              <a:t>streamingapp-ansible</a:t>
            </a:r>
            <a:endParaRPr lang="en-US" sz="1800" dirty="0"/>
          </a:p>
        </p:txBody>
      </p:sp>
      <p:sp>
        <p:nvSpPr>
          <p:cNvPr id="18" name="Job 2 file"/>
          <p:cNvSpPr txBox="1"/>
          <p:nvPr/>
        </p:nvSpPr>
        <p:spPr>
          <a:xfrm>
            <a:off x="5486400" y="3108960"/>
            <a:ext cx="2103120" cy="320040"/>
          </a:xfrm>
          <a:prstGeom prst="rect">
            <a:avLst/>
          </a:prstGeom>
          <a:noFill/>
          <a:ln/>
        </p:spPr>
        <p:txBody>
          <a:bodyPr wrap="square" lIns="0" tIns="0" rIns="0" bIns="0" rtlCol="0" anchor="t"/>
          <a:lstStyle/>
          <a:p>
            <a:pPr indent="0" marL="0">
              <a:buNone/>
            </a:pPr>
            <a:r>
              <a:rPr lang="en-US" sz="1200" dirty="0">
                <a:solidFill>
                  <a:schemeClr val="accent4"/>
                </a:solidFill>
              </a:rPr>
              <a:t>jenkins/Jenkinsfile.ansible</a:t>
            </a:r>
            <a:endParaRPr lang="en-US" sz="1200" dirty="0"/>
          </a:p>
        </p:txBody>
      </p:sp>
      <p:sp>
        <p:nvSpPr>
          <p:cNvPr id="19" name="Job 2 steps"/>
          <p:cNvSpPr txBox="1"/>
          <p:nvPr/>
        </p:nvSpPr>
        <p:spPr>
          <a:xfrm>
            <a:off x="4754880" y="3703320"/>
            <a:ext cx="2788920" cy="18288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Read Terraform outputs</a:t>
            </a:r>
            <a:endParaRPr lang="en-US" sz="1500" dirty="0"/>
          </a:p>
          <a:p>
            <a:pPr marL="203200" indent="-203200">
              <a:spcAft>
                <a:spcPts val="600"/>
              </a:spcAft>
              <a:buSzPct val="100000"/>
              <a:buChar char="•"/>
            </a:pPr>
            <a:r>
              <a:rPr lang="en-US" sz="1500" dirty="0">
                <a:solidFill>
                  <a:schemeClr val="tx1"/>
                </a:solidFill>
              </a:rPr>
              <a:t>Configure EC2 (site.yml)</a:t>
            </a:r>
            <a:endParaRPr lang="en-US" sz="1500" dirty="0"/>
          </a:p>
          <a:p>
            <a:pPr marL="203200" indent="-203200">
              <a:spcAft>
                <a:spcPts val="600"/>
              </a:spcAft>
              <a:buSzPct val="100000"/>
              <a:buChar char="•"/>
            </a:pPr>
            <a:r>
              <a:rPr lang="en-US" sz="1500" dirty="0">
                <a:solidFill>
                  <a:schemeClr val="tx1"/>
                </a:solidFill>
              </a:rPr>
              <a:t>Bootstrap EKS add-ons</a:t>
            </a:r>
            <a:endParaRPr lang="en-US" sz="1500" dirty="0"/>
          </a:p>
        </p:txBody>
      </p:sp>
      <p:sp>
        <p:nvSpPr>
          <p:cNvPr id="20" name="Trigger 3"/>
          <p:cNvSpPr/>
          <p:nvPr/>
        </p:nvSpPr>
        <p:spPr>
          <a:xfrm>
            <a:off x="8321040" y="1874520"/>
            <a:ext cx="3337560" cy="411480"/>
          </a:xfrm>
          <a:prstGeom prst="roundRect">
            <a:avLst>
              <a:gd name="adj" fmla="val 22222"/>
            </a:avLst>
          </a:prstGeom>
          <a:solidFill>
            <a:schemeClr val="accent6"/>
          </a:solidFill>
          <a:ln w="12700">
            <a:solidFill>
              <a:schemeClr val="accent6"/>
            </a:solidFill>
            <a:prstDash val="solid"/>
          </a:ln>
        </p:spPr>
      </p:sp>
      <p:sp>
        <p:nvSpPr>
          <p:cNvPr id="21" name="Trigger 3 text"/>
          <p:cNvSpPr txBox="1"/>
          <p:nvPr/>
        </p:nvSpPr>
        <p:spPr>
          <a:xfrm>
            <a:off x="8321040" y="1874520"/>
            <a:ext cx="3337560" cy="411480"/>
          </a:xfrm>
          <a:prstGeom prst="rect">
            <a:avLst/>
          </a:prstGeom>
          <a:noFill/>
          <a:ln/>
        </p:spPr>
        <p:txBody>
          <a:bodyPr wrap="square" lIns="0" tIns="0" rIns="0" bIns="0" rtlCol="0" anchor="ctr"/>
          <a:lstStyle/>
          <a:p>
            <a:pPr algn="ctr" indent="0" marL="0">
              <a:buNone/>
            </a:pPr>
            <a:r>
              <a:rPr lang="en-US" sz="1400" b="1" dirty="0">
                <a:solidFill>
                  <a:schemeClr val="tx2"/>
                </a:solidFill>
              </a:rPr>
              <a:t>GitHub webhook  ·  every push</a:t>
            </a:r>
            <a:endParaRPr lang="en-US" sz="1400" dirty="0"/>
          </a:p>
        </p:txBody>
      </p:sp>
      <p:sp>
        <p:nvSpPr>
          <p:cNvPr id="22" name="Job card 3"/>
          <p:cNvSpPr/>
          <p:nvPr/>
        </p:nvSpPr>
        <p:spPr>
          <a:xfrm>
            <a:off x="8321040" y="2468880"/>
            <a:ext cx="3337560" cy="2834640"/>
          </a:xfrm>
          <a:prstGeom prst="roundRect">
            <a:avLst>
              <a:gd name="adj" fmla="val 3871"/>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23" name="Job 3 circle"/>
          <p:cNvSpPr/>
          <p:nvPr/>
        </p:nvSpPr>
        <p:spPr>
          <a:xfrm>
            <a:off x="8595360" y="2743200"/>
            <a:ext cx="640080" cy="640080"/>
          </a:xfrm>
          <a:prstGeom prst="ellipse">
            <a:avLst/>
          </a:prstGeom>
          <a:solidFill>
            <a:schemeClr val="tx2"/>
          </a:solidFill>
          <a:ln w="12700">
            <a:solidFill>
              <a:schemeClr val="tx2"/>
            </a:solidFill>
            <a:prstDash val="solid"/>
          </a:ln>
        </p:spPr>
      </p:sp>
      <p:pic>
        <p:nvPicPr>
          <p:cNvPr id="24" name="Job 3 icon" descr="preencoded.png">    </p:cNvPr>
          <p:cNvPicPr>
            <a:picLocks noChangeAspect="1"/>
          </p:cNvPicPr>
          <p:nvPr/>
        </p:nvPicPr>
        <p:blipFill>
          <a:blip r:embed="rId3"/>
          <a:stretch>
            <a:fillRect/>
          </a:stretch>
        </p:blipFill>
        <p:spPr>
          <a:xfrm>
            <a:off x="8748979" y="2896819"/>
            <a:ext cx="332842" cy="332842"/>
          </a:xfrm>
          <a:prstGeom prst="rect">
            <a:avLst/>
          </a:prstGeom>
        </p:spPr>
      </p:pic>
      <p:sp>
        <p:nvSpPr>
          <p:cNvPr id="25" name="Job 3 name"/>
          <p:cNvSpPr txBox="1"/>
          <p:nvPr/>
        </p:nvSpPr>
        <p:spPr>
          <a:xfrm>
            <a:off x="9372600" y="2743200"/>
            <a:ext cx="2103120" cy="365760"/>
          </a:xfrm>
          <a:prstGeom prst="rect">
            <a:avLst/>
          </a:prstGeom>
          <a:noFill/>
          <a:ln/>
        </p:spPr>
        <p:txBody>
          <a:bodyPr wrap="square" lIns="0" tIns="0" rIns="0" bIns="0" rtlCol="0" anchor="t"/>
          <a:lstStyle/>
          <a:p>
            <a:pPr indent="0" marL="0">
              <a:buNone/>
            </a:pPr>
            <a:r>
              <a:rPr lang="en-US" sz="1800" b="1" dirty="0">
                <a:solidFill>
                  <a:schemeClr val="tx2"/>
                </a:solidFill>
              </a:rPr>
              <a:t>streamingapp-app</a:t>
            </a:r>
            <a:endParaRPr lang="en-US" sz="1800" dirty="0"/>
          </a:p>
        </p:txBody>
      </p:sp>
      <p:sp>
        <p:nvSpPr>
          <p:cNvPr id="26" name="Job 3 file"/>
          <p:cNvSpPr txBox="1"/>
          <p:nvPr/>
        </p:nvSpPr>
        <p:spPr>
          <a:xfrm>
            <a:off x="9372600" y="3108960"/>
            <a:ext cx="2103120" cy="320040"/>
          </a:xfrm>
          <a:prstGeom prst="rect">
            <a:avLst/>
          </a:prstGeom>
          <a:noFill/>
          <a:ln/>
        </p:spPr>
        <p:txBody>
          <a:bodyPr wrap="square" lIns="0" tIns="0" rIns="0" bIns="0" rtlCol="0" anchor="t"/>
          <a:lstStyle/>
          <a:p>
            <a:pPr indent="0" marL="0">
              <a:buNone/>
            </a:pPr>
            <a:r>
              <a:rPr lang="en-US" sz="1200" dirty="0">
                <a:solidFill>
                  <a:schemeClr val="accent4"/>
                </a:solidFill>
              </a:rPr>
              <a:t>Jenkinsfile (Multibranch)</a:t>
            </a:r>
            <a:endParaRPr lang="en-US" sz="1200" dirty="0"/>
          </a:p>
        </p:txBody>
      </p:sp>
      <p:sp>
        <p:nvSpPr>
          <p:cNvPr id="27" name="Job 3 steps"/>
          <p:cNvSpPr txBox="1"/>
          <p:nvPr/>
        </p:nvSpPr>
        <p:spPr>
          <a:xfrm>
            <a:off x="8641080" y="3703320"/>
            <a:ext cx="2788920" cy="18288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Unit tests, Docker build</a:t>
            </a:r>
            <a:endParaRPr lang="en-US" sz="1500" dirty="0"/>
          </a:p>
          <a:p>
            <a:pPr marL="203200" indent="-203200">
              <a:spcAft>
                <a:spcPts val="600"/>
              </a:spcAft>
              <a:buSzPct val="100000"/>
              <a:buChar char="•"/>
            </a:pPr>
            <a:r>
              <a:rPr lang="en-US" sz="1500" dirty="0">
                <a:solidFill>
                  <a:schemeClr val="tx1"/>
                </a:solidFill>
              </a:rPr>
              <a:t>Push to ECR with git SHA</a:t>
            </a:r>
            <a:endParaRPr lang="en-US" sz="1500" dirty="0"/>
          </a:p>
          <a:p>
            <a:pPr marL="203200" indent="-203200">
              <a:spcAft>
                <a:spcPts val="600"/>
              </a:spcAft>
              <a:buSzPct val="100000"/>
              <a:buChar char="•"/>
            </a:pPr>
            <a:r>
              <a:rPr lang="en-US" sz="1500" dirty="0">
                <a:solidFill>
                  <a:schemeClr val="tx1"/>
                </a:solidFill>
              </a:rPr>
              <a:t>Helm deploy, smoke tests</a:t>
            </a:r>
            <a:endParaRPr lang="en-US" sz="1500" dirty="0"/>
          </a:p>
        </p:txBody>
      </p:sp>
      <p:sp>
        <p:nvSpPr>
          <p:cNvPr id="28" name="Infra to Ansible arrow"/>
          <p:cNvSpPr/>
          <p:nvPr/>
        </p:nvSpPr>
        <p:spPr>
          <a:xfrm>
            <a:off x="3931920" y="3520440"/>
            <a:ext cx="457200" cy="365760"/>
          </a:xfrm>
          <a:prstGeom prst="rightArrow">
            <a:avLst/>
          </a:prstGeom>
          <a:solidFill>
            <a:schemeClr val="accent1"/>
          </a:solidFill>
          <a:ln w="12700">
            <a:solidFill>
              <a:schemeClr val="accent1"/>
            </a:solidFill>
            <a:prstDash val="solid"/>
          </a:ln>
        </p:spPr>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Sprint 3: Ansible Configures the Server and the Cluster</a:t>
            </a:r>
            <a:endParaRPr lang="en-US" sz="34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algn="l" indent="0" marL="0">
              <a:buNone/>
            </a:pPr>
            <a:r>
              <a:rPr lang="en-US" sz="1600" dirty="0">
                <a:solidFill>
                  <a:schemeClr val="accent4"/>
                </a:solidFill>
              </a:rPr>
              <a:t>Run by Jenkins with its own IAM role and SSH credential, triggered automatically after every Terraform apply</a:t>
            </a:r>
            <a:endParaRPr lang="en-US" sz="1600" dirty="0"/>
          </a:p>
        </p:txBody>
      </p:sp>
      <p:sp>
        <p:nvSpPr>
          <p:cNvPr id="4" name="Sprint 3 card 1"/>
          <p:cNvSpPr/>
          <p:nvPr/>
        </p:nvSpPr>
        <p:spPr>
          <a:xfrm>
            <a:off x="548640" y="1783080"/>
            <a:ext cx="5440680" cy="3520440"/>
          </a:xfrm>
          <a:prstGeom prst="roundRect">
            <a:avLst>
              <a:gd name="adj" fmla="val 3117"/>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5" name="Sprint 3 card 1 circle"/>
          <p:cNvSpPr/>
          <p:nvPr/>
        </p:nvSpPr>
        <p:spPr>
          <a:xfrm>
            <a:off x="868680" y="2103120"/>
            <a:ext cx="640080" cy="640080"/>
          </a:xfrm>
          <a:prstGeom prst="ellipse">
            <a:avLst/>
          </a:prstGeom>
          <a:solidFill>
            <a:schemeClr val="accent1"/>
          </a:solidFill>
          <a:ln w="12700">
            <a:solidFill>
              <a:schemeClr val="accent1"/>
            </a:solidFill>
            <a:prstDash val="solid"/>
          </a:ln>
        </p:spPr>
      </p:sp>
      <p:pic>
        <p:nvPicPr>
          <p:cNvPr id="6" name="Sprint 3 card 1 icon" descr="preencoded.png">    </p:cNvPr>
          <p:cNvPicPr>
            <a:picLocks noChangeAspect="1"/>
          </p:cNvPicPr>
          <p:nvPr/>
        </p:nvPicPr>
        <p:blipFill>
          <a:blip r:embed="rId1"/>
          <a:stretch>
            <a:fillRect/>
          </a:stretch>
        </p:blipFill>
        <p:spPr>
          <a:xfrm>
            <a:off x="1022299" y="2256739"/>
            <a:ext cx="332842" cy="332842"/>
          </a:xfrm>
          <a:prstGeom prst="rect">
            <a:avLst/>
          </a:prstGeom>
        </p:spPr>
      </p:pic>
      <p:sp>
        <p:nvSpPr>
          <p:cNvPr id="7" name="Sprint 3 card 1 heading"/>
          <p:cNvSpPr txBox="1"/>
          <p:nvPr/>
        </p:nvSpPr>
        <p:spPr>
          <a:xfrm>
            <a:off x="1691640" y="2194560"/>
            <a:ext cx="4069080" cy="457200"/>
          </a:xfrm>
          <a:prstGeom prst="rect">
            <a:avLst/>
          </a:prstGeom>
          <a:noFill/>
          <a:ln/>
        </p:spPr>
        <p:txBody>
          <a:bodyPr wrap="square" lIns="0" tIns="0" rIns="0" bIns="0" rtlCol="0" anchor="t"/>
          <a:lstStyle/>
          <a:p>
            <a:pPr indent="0" marL="0">
              <a:buNone/>
            </a:pPr>
            <a:r>
              <a:rPr lang="en-US" sz="2000" b="1" dirty="0">
                <a:solidFill>
                  <a:schemeClr val="tx2"/>
                </a:solidFill>
              </a:rPr>
              <a:t>site.yml  →  Jenkins EC2</a:t>
            </a:r>
            <a:endParaRPr lang="en-US" sz="2000" dirty="0"/>
          </a:p>
        </p:txBody>
      </p:sp>
      <p:sp>
        <p:nvSpPr>
          <p:cNvPr id="8" name="Chip 1-1"/>
          <p:cNvSpPr/>
          <p:nvPr/>
        </p:nvSpPr>
        <p:spPr>
          <a:xfrm>
            <a:off x="868680" y="2926080"/>
            <a:ext cx="795528" cy="329184"/>
          </a:xfrm>
          <a:prstGeom prst="roundRect">
            <a:avLst>
              <a:gd name="adj" fmla="val 22222"/>
            </a:avLst>
          </a:prstGeom>
          <a:solidFill>
            <a:schemeClr val="accent6"/>
          </a:solidFill>
          <a:ln w="12700">
            <a:solidFill>
              <a:schemeClr val="accent6"/>
            </a:solidFill>
            <a:prstDash val="solid"/>
          </a:ln>
        </p:spPr>
      </p:sp>
      <p:sp>
        <p:nvSpPr>
          <p:cNvPr id="9" name="Chip 1-1 text"/>
          <p:cNvSpPr txBox="1"/>
          <p:nvPr/>
        </p:nvSpPr>
        <p:spPr>
          <a:xfrm>
            <a:off x="868680" y="2926080"/>
            <a:ext cx="795528" cy="329184"/>
          </a:xfrm>
          <a:prstGeom prst="rect">
            <a:avLst/>
          </a:prstGeom>
          <a:noFill/>
          <a:ln/>
        </p:spPr>
        <p:txBody>
          <a:bodyPr wrap="square" lIns="0" tIns="0" rIns="0" bIns="0" rtlCol="0" anchor="ctr"/>
          <a:lstStyle/>
          <a:p>
            <a:pPr algn="ctr" indent="0" marL="0">
              <a:buNone/>
            </a:pPr>
            <a:r>
              <a:rPr lang="en-US" sz="1200" b="1" dirty="0">
                <a:solidFill>
                  <a:schemeClr val="tx2"/>
                </a:solidFill>
              </a:rPr>
              <a:t>common</a:t>
            </a:r>
            <a:endParaRPr lang="en-US" sz="1200" dirty="0"/>
          </a:p>
        </p:txBody>
      </p:sp>
      <p:sp>
        <p:nvSpPr>
          <p:cNvPr id="10" name="Chip 1-2"/>
          <p:cNvSpPr/>
          <p:nvPr/>
        </p:nvSpPr>
        <p:spPr>
          <a:xfrm>
            <a:off x="1773936" y="2926080"/>
            <a:ext cx="795528" cy="329184"/>
          </a:xfrm>
          <a:prstGeom prst="roundRect">
            <a:avLst>
              <a:gd name="adj" fmla="val 22222"/>
            </a:avLst>
          </a:prstGeom>
          <a:solidFill>
            <a:schemeClr val="accent6"/>
          </a:solidFill>
          <a:ln w="12700">
            <a:solidFill>
              <a:schemeClr val="accent6"/>
            </a:solidFill>
            <a:prstDash val="solid"/>
          </a:ln>
        </p:spPr>
      </p:sp>
      <p:sp>
        <p:nvSpPr>
          <p:cNvPr id="11" name="Chip 1-2 text"/>
          <p:cNvSpPr txBox="1"/>
          <p:nvPr/>
        </p:nvSpPr>
        <p:spPr>
          <a:xfrm>
            <a:off x="1773936" y="2926080"/>
            <a:ext cx="795528" cy="329184"/>
          </a:xfrm>
          <a:prstGeom prst="rect">
            <a:avLst/>
          </a:prstGeom>
          <a:noFill/>
          <a:ln/>
        </p:spPr>
        <p:txBody>
          <a:bodyPr wrap="square" lIns="0" tIns="0" rIns="0" bIns="0" rtlCol="0" anchor="ctr"/>
          <a:lstStyle/>
          <a:p>
            <a:pPr algn="ctr" indent="0" marL="0">
              <a:buNone/>
            </a:pPr>
            <a:r>
              <a:rPr lang="en-US" sz="1200" b="1" dirty="0">
                <a:solidFill>
                  <a:schemeClr val="tx2"/>
                </a:solidFill>
              </a:rPr>
              <a:t>docker</a:t>
            </a:r>
            <a:endParaRPr lang="en-US" sz="1200" dirty="0"/>
          </a:p>
        </p:txBody>
      </p:sp>
      <p:sp>
        <p:nvSpPr>
          <p:cNvPr id="12" name="Chip 1-3"/>
          <p:cNvSpPr/>
          <p:nvPr/>
        </p:nvSpPr>
        <p:spPr>
          <a:xfrm>
            <a:off x="2679192" y="2926080"/>
            <a:ext cx="891540" cy="329184"/>
          </a:xfrm>
          <a:prstGeom prst="roundRect">
            <a:avLst>
              <a:gd name="adj" fmla="val 22222"/>
            </a:avLst>
          </a:prstGeom>
          <a:solidFill>
            <a:schemeClr val="accent6"/>
          </a:solidFill>
          <a:ln w="12700">
            <a:solidFill>
              <a:schemeClr val="accent6"/>
            </a:solidFill>
            <a:prstDash val="solid"/>
          </a:ln>
        </p:spPr>
      </p:sp>
      <p:sp>
        <p:nvSpPr>
          <p:cNvPr id="13" name="Chip 1-3 text"/>
          <p:cNvSpPr txBox="1"/>
          <p:nvPr/>
        </p:nvSpPr>
        <p:spPr>
          <a:xfrm>
            <a:off x="2679192" y="2926080"/>
            <a:ext cx="891540" cy="329184"/>
          </a:xfrm>
          <a:prstGeom prst="rect">
            <a:avLst/>
          </a:prstGeom>
          <a:noFill/>
          <a:ln/>
        </p:spPr>
        <p:txBody>
          <a:bodyPr wrap="square" lIns="0" tIns="0" rIns="0" bIns="0" rtlCol="0" anchor="ctr"/>
          <a:lstStyle/>
          <a:p>
            <a:pPr algn="ctr" indent="0" marL="0">
              <a:buNone/>
            </a:pPr>
            <a:r>
              <a:rPr lang="en-US" sz="1200" b="1" dirty="0">
                <a:solidFill>
                  <a:schemeClr val="tx2"/>
                </a:solidFill>
              </a:rPr>
              <a:t>kubectl</a:t>
            </a:r>
            <a:endParaRPr lang="en-US" sz="1200" dirty="0"/>
          </a:p>
        </p:txBody>
      </p:sp>
      <p:sp>
        <p:nvSpPr>
          <p:cNvPr id="14" name="Chip 1-4"/>
          <p:cNvSpPr/>
          <p:nvPr/>
        </p:nvSpPr>
        <p:spPr>
          <a:xfrm>
            <a:off x="3680460" y="2926080"/>
            <a:ext cx="987552" cy="329184"/>
          </a:xfrm>
          <a:prstGeom prst="roundRect">
            <a:avLst>
              <a:gd name="adj" fmla="val 22222"/>
            </a:avLst>
          </a:prstGeom>
          <a:solidFill>
            <a:schemeClr val="accent6"/>
          </a:solidFill>
          <a:ln w="12700">
            <a:solidFill>
              <a:schemeClr val="accent6"/>
            </a:solidFill>
            <a:prstDash val="solid"/>
          </a:ln>
        </p:spPr>
      </p:sp>
      <p:sp>
        <p:nvSpPr>
          <p:cNvPr id="15" name="Chip 1-4 text"/>
          <p:cNvSpPr txBox="1"/>
          <p:nvPr/>
        </p:nvSpPr>
        <p:spPr>
          <a:xfrm>
            <a:off x="3680460" y="2926080"/>
            <a:ext cx="987552" cy="329184"/>
          </a:xfrm>
          <a:prstGeom prst="rect">
            <a:avLst/>
          </a:prstGeom>
          <a:noFill/>
          <a:ln/>
        </p:spPr>
        <p:txBody>
          <a:bodyPr wrap="square" lIns="0" tIns="0" rIns="0" bIns="0" rtlCol="0" anchor="ctr"/>
          <a:lstStyle/>
          <a:p>
            <a:pPr algn="ctr" indent="0" marL="0">
              <a:buNone/>
            </a:pPr>
            <a:r>
              <a:rPr lang="en-US" sz="1200" b="1" dirty="0">
                <a:solidFill>
                  <a:schemeClr val="tx2"/>
                </a:solidFill>
              </a:rPr>
              <a:t>ci_tools</a:t>
            </a:r>
            <a:endParaRPr lang="en-US" sz="1200" dirty="0"/>
          </a:p>
        </p:txBody>
      </p:sp>
      <p:sp>
        <p:nvSpPr>
          <p:cNvPr id="16" name="Chip 1-5"/>
          <p:cNvSpPr/>
          <p:nvPr/>
        </p:nvSpPr>
        <p:spPr>
          <a:xfrm>
            <a:off x="4777740" y="2926080"/>
            <a:ext cx="891540" cy="329184"/>
          </a:xfrm>
          <a:prstGeom prst="roundRect">
            <a:avLst>
              <a:gd name="adj" fmla="val 22222"/>
            </a:avLst>
          </a:prstGeom>
          <a:solidFill>
            <a:schemeClr val="accent6"/>
          </a:solidFill>
          <a:ln w="12700">
            <a:solidFill>
              <a:schemeClr val="accent6"/>
            </a:solidFill>
            <a:prstDash val="solid"/>
          </a:ln>
        </p:spPr>
      </p:sp>
      <p:sp>
        <p:nvSpPr>
          <p:cNvPr id="17" name="Chip 1-5 text"/>
          <p:cNvSpPr txBox="1"/>
          <p:nvPr/>
        </p:nvSpPr>
        <p:spPr>
          <a:xfrm>
            <a:off x="4777740" y="2926080"/>
            <a:ext cx="891540" cy="329184"/>
          </a:xfrm>
          <a:prstGeom prst="rect">
            <a:avLst/>
          </a:prstGeom>
          <a:noFill/>
          <a:ln/>
        </p:spPr>
        <p:txBody>
          <a:bodyPr wrap="square" lIns="0" tIns="0" rIns="0" bIns="0" rtlCol="0" anchor="ctr"/>
          <a:lstStyle/>
          <a:p>
            <a:pPr algn="ctr" indent="0" marL="0">
              <a:buNone/>
            </a:pPr>
            <a:r>
              <a:rPr lang="en-US" sz="1200" b="1" dirty="0">
                <a:solidFill>
                  <a:schemeClr val="tx2"/>
                </a:solidFill>
              </a:rPr>
              <a:t>jenkins</a:t>
            </a:r>
            <a:endParaRPr lang="en-US" sz="1200" dirty="0"/>
          </a:p>
        </p:txBody>
      </p:sp>
      <p:sp>
        <p:nvSpPr>
          <p:cNvPr id="18" name="Sprint 3 card 1 points"/>
          <p:cNvSpPr txBox="1"/>
          <p:nvPr/>
        </p:nvSpPr>
        <p:spPr>
          <a:xfrm>
            <a:off x="868680" y="3474720"/>
            <a:ext cx="4846320" cy="17373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Docker, kubectl, Helm, AWS CLI, Terraform, Node.js, Ansible at pinned versions</a:t>
            </a:r>
            <a:endParaRPr lang="en-US" sz="1500" dirty="0"/>
          </a:p>
          <a:p>
            <a:pPr marL="203200" indent="-203200">
              <a:spcAft>
                <a:spcPts val="600"/>
              </a:spcAft>
              <a:buSzPct val="100000"/>
              <a:buChar char="•"/>
            </a:pPr>
            <a:r>
              <a:rPr lang="en-US" sz="1500" dirty="0">
                <a:solidFill>
                  <a:schemeClr val="tx1"/>
                </a:solidFill>
              </a:rPr>
              <a:t>Connects over the private network with the key from Jenkins credentials</a:t>
            </a:r>
            <a:endParaRPr lang="en-US" sz="1500" dirty="0"/>
          </a:p>
          <a:p>
            <a:pPr marL="203200" indent="-203200">
              <a:spcAft>
                <a:spcPts val="600"/>
              </a:spcAft>
              <a:buSzPct val="100000"/>
              <a:buChar char="•"/>
            </a:pPr>
            <a:r>
              <a:rPr lang="en-US" sz="1500" dirty="0">
                <a:solidFill>
                  <a:schemeClr val="tx1"/>
                </a:solidFill>
              </a:rPr>
              <a:t>Skips the jenkins role so Jenkins never reconfigures itself mid-job</a:t>
            </a:r>
            <a:endParaRPr lang="en-US" sz="1500" dirty="0"/>
          </a:p>
        </p:txBody>
      </p:sp>
      <p:sp>
        <p:nvSpPr>
          <p:cNvPr id="19" name="Sprint 3 card 2"/>
          <p:cNvSpPr/>
          <p:nvPr/>
        </p:nvSpPr>
        <p:spPr>
          <a:xfrm>
            <a:off x="6172200" y="1783080"/>
            <a:ext cx="5440680" cy="3520440"/>
          </a:xfrm>
          <a:prstGeom prst="roundRect">
            <a:avLst>
              <a:gd name="adj" fmla="val 3117"/>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20" name="Sprint 3 card 2 circle"/>
          <p:cNvSpPr/>
          <p:nvPr/>
        </p:nvSpPr>
        <p:spPr>
          <a:xfrm>
            <a:off x="6492240" y="2103120"/>
            <a:ext cx="640080" cy="640080"/>
          </a:xfrm>
          <a:prstGeom prst="ellipse">
            <a:avLst/>
          </a:prstGeom>
          <a:solidFill>
            <a:schemeClr val="accent1"/>
          </a:solidFill>
          <a:ln w="12700">
            <a:solidFill>
              <a:schemeClr val="accent1"/>
            </a:solidFill>
            <a:prstDash val="solid"/>
          </a:ln>
        </p:spPr>
      </p:sp>
      <p:pic>
        <p:nvPicPr>
          <p:cNvPr id="21" name="Sprint 3 card 2 icon" descr="preencoded.png">    </p:cNvPr>
          <p:cNvPicPr>
            <a:picLocks noChangeAspect="1"/>
          </p:cNvPicPr>
          <p:nvPr/>
        </p:nvPicPr>
        <p:blipFill>
          <a:blip r:embed="rId2"/>
          <a:stretch>
            <a:fillRect/>
          </a:stretch>
        </p:blipFill>
        <p:spPr>
          <a:xfrm>
            <a:off x="6645859" y="2256739"/>
            <a:ext cx="332842" cy="332842"/>
          </a:xfrm>
          <a:prstGeom prst="rect">
            <a:avLst/>
          </a:prstGeom>
        </p:spPr>
      </p:pic>
      <p:sp>
        <p:nvSpPr>
          <p:cNvPr id="22" name="Sprint 3 card 2 heading"/>
          <p:cNvSpPr txBox="1"/>
          <p:nvPr/>
        </p:nvSpPr>
        <p:spPr>
          <a:xfrm>
            <a:off x="7315200" y="2194560"/>
            <a:ext cx="4069080" cy="457200"/>
          </a:xfrm>
          <a:prstGeom prst="rect">
            <a:avLst/>
          </a:prstGeom>
          <a:noFill/>
          <a:ln/>
        </p:spPr>
        <p:txBody>
          <a:bodyPr wrap="square" lIns="0" tIns="0" rIns="0" bIns="0" rtlCol="0" anchor="t"/>
          <a:lstStyle/>
          <a:p>
            <a:pPr indent="0" marL="0">
              <a:buNone/>
            </a:pPr>
            <a:r>
              <a:rPr lang="en-US" sz="2000" b="1" dirty="0">
                <a:solidFill>
                  <a:schemeClr val="tx2"/>
                </a:solidFill>
              </a:rPr>
              <a:t>k8s-bootstrap.yml  →  EKS</a:t>
            </a:r>
            <a:endParaRPr lang="en-US" sz="2000" dirty="0"/>
          </a:p>
        </p:txBody>
      </p:sp>
      <p:sp>
        <p:nvSpPr>
          <p:cNvPr id="23" name="Chip 2-1"/>
          <p:cNvSpPr/>
          <p:nvPr/>
        </p:nvSpPr>
        <p:spPr>
          <a:xfrm>
            <a:off x="6492240" y="2926080"/>
            <a:ext cx="1563624" cy="329184"/>
          </a:xfrm>
          <a:prstGeom prst="roundRect">
            <a:avLst>
              <a:gd name="adj" fmla="val 22222"/>
            </a:avLst>
          </a:prstGeom>
          <a:solidFill>
            <a:schemeClr val="accent6"/>
          </a:solidFill>
          <a:ln w="12700">
            <a:solidFill>
              <a:schemeClr val="accent6"/>
            </a:solidFill>
            <a:prstDash val="solid"/>
          </a:ln>
        </p:spPr>
      </p:sp>
      <p:sp>
        <p:nvSpPr>
          <p:cNvPr id="24" name="Chip 2-1 text"/>
          <p:cNvSpPr txBox="1"/>
          <p:nvPr/>
        </p:nvSpPr>
        <p:spPr>
          <a:xfrm>
            <a:off x="6492240" y="2926080"/>
            <a:ext cx="1563624" cy="329184"/>
          </a:xfrm>
          <a:prstGeom prst="rect">
            <a:avLst/>
          </a:prstGeom>
          <a:noFill/>
          <a:ln/>
        </p:spPr>
        <p:txBody>
          <a:bodyPr wrap="square" lIns="0" tIns="0" rIns="0" bIns="0" rtlCol="0" anchor="ctr"/>
          <a:lstStyle/>
          <a:p>
            <a:pPr algn="ctr" indent="0" marL="0">
              <a:buNone/>
            </a:pPr>
            <a:r>
              <a:rPr lang="en-US" sz="1200" b="1" dirty="0">
                <a:solidFill>
                  <a:schemeClr val="tx2"/>
                </a:solidFill>
              </a:rPr>
              <a:t>metrics-server</a:t>
            </a:r>
            <a:endParaRPr lang="en-US" sz="1200" dirty="0"/>
          </a:p>
        </p:txBody>
      </p:sp>
      <p:sp>
        <p:nvSpPr>
          <p:cNvPr id="25" name="Chip 2-2"/>
          <p:cNvSpPr/>
          <p:nvPr/>
        </p:nvSpPr>
        <p:spPr>
          <a:xfrm>
            <a:off x="8165592" y="2926080"/>
            <a:ext cx="1467612" cy="329184"/>
          </a:xfrm>
          <a:prstGeom prst="roundRect">
            <a:avLst>
              <a:gd name="adj" fmla="val 22222"/>
            </a:avLst>
          </a:prstGeom>
          <a:solidFill>
            <a:schemeClr val="accent6"/>
          </a:solidFill>
          <a:ln w="12700">
            <a:solidFill>
              <a:schemeClr val="accent6"/>
            </a:solidFill>
            <a:prstDash val="solid"/>
          </a:ln>
        </p:spPr>
      </p:sp>
      <p:sp>
        <p:nvSpPr>
          <p:cNvPr id="26" name="Chip 2-2 text"/>
          <p:cNvSpPr txBox="1"/>
          <p:nvPr/>
        </p:nvSpPr>
        <p:spPr>
          <a:xfrm>
            <a:off x="8165592" y="2926080"/>
            <a:ext cx="1467612" cy="329184"/>
          </a:xfrm>
          <a:prstGeom prst="rect">
            <a:avLst/>
          </a:prstGeom>
          <a:noFill/>
          <a:ln/>
        </p:spPr>
        <p:txBody>
          <a:bodyPr wrap="square" lIns="0" tIns="0" rIns="0" bIns="0" rtlCol="0" anchor="ctr"/>
          <a:lstStyle/>
          <a:p>
            <a:pPr algn="ctr" indent="0" marL="0">
              <a:buNone/>
            </a:pPr>
            <a:r>
              <a:rPr lang="en-US" sz="1200" b="1" dirty="0">
                <a:solidFill>
                  <a:schemeClr val="tx2"/>
                </a:solidFill>
              </a:rPr>
              <a:t>LB controller</a:t>
            </a:r>
            <a:endParaRPr lang="en-US" sz="1200" dirty="0"/>
          </a:p>
        </p:txBody>
      </p:sp>
      <p:sp>
        <p:nvSpPr>
          <p:cNvPr id="27" name="Chip 2-3"/>
          <p:cNvSpPr/>
          <p:nvPr/>
        </p:nvSpPr>
        <p:spPr>
          <a:xfrm>
            <a:off x="9742932" y="2926080"/>
            <a:ext cx="1755648" cy="329184"/>
          </a:xfrm>
          <a:prstGeom prst="roundRect">
            <a:avLst>
              <a:gd name="adj" fmla="val 22222"/>
            </a:avLst>
          </a:prstGeom>
          <a:solidFill>
            <a:schemeClr val="accent6"/>
          </a:solidFill>
          <a:ln w="12700">
            <a:solidFill>
              <a:schemeClr val="accent6"/>
            </a:solidFill>
            <a:prstDash val="solid"/>
          </a:ln>
        </p:spPr>
      </p:sp>
      <p:sp>
        <p:nvSpPr>
          <p:cNvPr id="28" name="Chip 2-3 text"/>
          <p:cNvSpPr txBox="1"/>
          <p:nvPr/>
        </p:nvSpPr>
        <p:spPr>
          <a:xfrm>
            <a:off x="9742932" y="2926080"/>
            <a:ext cx="1755648" cy="329184"/>
          </a:xfrm>
          <a:prstGeom prst="rect">
            <a:avLst/>
          </a:prstGeom>
          <a:noFill/>
          <a:ln/>
        </p:spPr>
        <p:txBody>
          <a:bodyPr wrap="square" lIns="0" tIns="0" rIns="0" bIns="0" rtlCol="0" anchor="ctr"/>
          <a:lstStyle/>
          <a:p>
            <a:pPr algn="ctr" indent="0" marL="0">
              <a:buNone/>
            </a:pPr>
            <a:r>
              <a:rPr lang="en-US" sz="1200" b="1" dirty="0">
                <a:solidFill>
                  <a:schemeClr val="tx2"/>
                </a:solidFill>
              </a:rPr>
              <a:t>gp3 StorageClass</a:t>
            </a:r>
            <a:endParaRPr lang="en-US" sz="1200" dirty="0"/>
          </a:p>
        </p:txBody>
      </p:sp>
      <p:sp>
        <p:nvSpPr>
          <p:cNvPr id="29" name="Sprint 3 card 2 points"/>
          <p:cNvSpPr txBox="1"/>
          <p:nvPr/>
        </p:nvSpPr>
        <p:spPr>
          <a:xfrm>
            <a:off x="6492240" y="3474720"/>
            <a:ext cx="4846320" cy="17373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AWS Load Balancer Controller with an IRSA role from Terraform</a:t>
            </a:r>
            <a:endParaRPr lang="en-US" sz="1500" dirty="0"/>
          </a:p>
          <a:p>
            <a:pPr marL="203200" indent="-203200">
              <a:spcAft>
                <a:spcPts val="600"/>
              </a:spcAft>
              <a:buSzPct val="100000"/>
              <a:buChar char="•"/>
            </a:pPr>
            <a:r>
              <a:rPr lang="en-US" sz="1500" dirty="0">
                <a:solidFill>
                  <a:schemeClr val="tx1"/>
                </a:solidFill>
              </a:rPr>
              <a:t>Default encrypted gp3 StorageClass for MongoDB's volume</a:t>
            </a:r>
            <a:endParaRPr lang="en-US" sz="1500" dirty="0"/>
          </a:p>
          <a:p>
            <a:pPr marL="203200" indent="-203200">
              <a:spcAft>
                <a:spcPts val="600"/>
              </a:spcAft>
              <a:buSzPct val="100000"/>
              <a:buChar char="•"/>
            </a:pPr>
            <a:r>
              <a:rPr lang="en-US" sz="1500" dirty="0">
                <a:solidFill>
                  <a:schemeClr val="tx1"/>
                </a:solidFill>
              </a:rPr>
              <a:t>Namespace and app secret from Jenkins credentials; pods restart only when it changes</a:t>
            </a:r>
            <a:endParaRPr lang="en-US" sz="1500" dirty="0"/>
          </a:p>
        </p:txBody>
      </p:sp>
      <p:sp>
        <p:nvSpPr>
          <p:cNvPr id="30" name="Evidence banner"/>
          <p:cNvSpPr/>
          <p:nvPr/>
        </p:nvSpPr>
        <p:spPr>
          <a:xfrm>
            <a:off x="548640" y="5532120"/>
            <a:ext cx="11064240" cy="640080"/>
          </a:xfrm>
          <a:prstGeom prst="roundRect">
            <a:avLst>
              <a:gd name="adj" fmla="val 14286"/>
            </a:avLst>
          </a:prstGeom>
          <a:solidFill>
            <a:schemeClr val="tx2"/>
          </a:solidFill>
          <a:ln w="12700">
            <a:solidFill>
              <a:schemeClr val="tx2"/>
            </a:solidFill>
            <a:prstDash val="solid"/>
          </a:ln>
        </p:spPr>
      </p:sp>
      <p:sp>
        <p:nvSpPr>
          <p:cNvPr id="31" name="Evidence banner text"/>
          <p:cNvSpPr txBox="1"/>
          <p:nvPr/>
        </p:nvSpPr>
        <p:spPr>
          <a:xfrm>
            <a:off x="822960" y="5532120"/>
            <a:ext cx="10607040" cy="640080"/>
          </a:xfrm>
          <a:prstGeom prst="rect">
            <a:avLst/>
          </a:prstGeom>
          <a:noFill/>
          <a:ln/>
        </p:spPr>
        <p:txBody>
          <a:bodyPr wrap="square" lIns="0" tIns="0" rIns="0" bIns="0" rtlCol="0" anchor="ctr"/>
          <a:lstStyle/>
          <a:p>
            <a:pPr indent="0" marL="0">
              <a:buNone/>
            </a:pPr>
            <a:r>
              <a:rPr lang="en-US" sz="1500" b="1" dirty="0">
                <a:solidFill>
                  <a:schemeClr val="accent1"/>
                </a:solidFill>
              </a:rPr>
              <a:t>Evidence  </a:t>
            </a:r>
            <a:pPr indent="0" marL="0">
              <a:buNone/>
            </a:pPr>
            <a:r>
              <a:rPr lang="en-US" sz="1500" dirty="0">
                <a:solidFill>
                  <a:schemeClr val="bg1"/>
                </a:solidFill>
              </a:rPr>
              <a:t>streamingapp-ansible #1: "Started by upstream project streamingapp-infra #6"  ·  both playbooks failed=0</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Sprint 4: Every Push Is Tested, Built and Deployed</a:t>
            </a:r>
            <a:endParaRPr lang="en-US" sz="34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algn="l" indent="0" marL="0">
              <a:buNone/>
            </a:pPr>
            <a:r>
              <a:rPr lang="en-US" sz="1600" dirty="0">
                <a:solidFill>
                  <a:schemeClr val="accent4"/>
                </a:solidFill>
              </a:rPr>
              <a:t>streamingapp-app: a multibranch pipeline triggered by the GitHub webhook</a:t>
            </a:r>
            <a:endParaRPr lang="en-US" sz="1600" dirty="0"/>
          </a:p>
        </p:txBody>
      </p:sp>
      <p:sp>
        <p:nvSpPr>
          <p:cNvPr id="4" name="Stage 1 card"/>
          <p:cNvSpPr/>
          <p:nvPr/>
        </p:nvSpPr>
        <p:spPr>
          <a:xfrm>
            <a:off x="548640" y="1920240"/>
            <a:ext cx="2011680" cy="2743200"/>
          </a:xfrm>
          <a:prstGeom prst="roundRect">
            <a:avLst>
              <a:gd name="adj" fmla="val 5455"/>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5" name="Stage 1 circle"/>
          <p:cNvSpPr/>
          <p:nvPr/>
        </p:nvSpPr>
        <p:spPr>
          <a:xfrm>
            <a:off x="1188720" y="2240280"/>
            <a:ext cx="731520" cy="731520"/>
          </a:xfrm>
          <a:prstGeom prst="ellipse">
            <a:avLst/>
          </a:prstGeom>
          <a:solidFill>
            <a:schemeClr val="tx2"/>
          </a:solidFill>
          <a:ln w="12700">
            <a:solidFill>
              <a:schemeClr val="tx2"/>
            </a:solidFill>
            <a:prstDash val="solid"/>
          </a:ln>
        </p:spPr>
      </p:sp>
      <p:pic>
        <p:nvPicPr>
          <p:cNvPr id="6" name="Stage 1 icon" descr="preencoded.png">    </p:cNvPr>
          <p:cNvPicPr>
            <a:picLocks noChangeAspect="1"/>
          </p:cNvPicPr>
          <p:nvPr/>
        </p:nvPicPr>
        <p:blipFill>
          <a:blip r:embed="rId1"/>
          <a:stretch>
            <a:fillRect/>
          </a:stretch>
        </p:blipFill>
        <p:spPr>
          <a:xfrm>
            <a:off x="1364285" y="2415845"/>
            <a:ext cx="380390" cy="380390"/>
          </a:xfrm>
          <a:prstGeom prst="rect">
            <a:avLst/>
          </a:prstGeom>
        </p:spPr>
      </p:pic>
      <p:sp>
        <p:nvSpPr>
          <p:cNvPr id="7" name="Stage 1 number"/>
          <p:cNvSpPr txBox="1"/>
          <p:nvPr/>
        </p:nvSpPr>
        <p:spPr>
          <a:xfrm>
            <a:off x="685800" y="2057400"/>
            <a:ext cx="365760" cy="320040"/>
          </a:xfrm>
          <a:prstGeom prst="rect">
            <a:avLst/>
          </a:prstGeom>
          <a:noFill/>
          <a:ln/>
        </p:spPr>
        <p:txBody>
          <a:bodyPr wrap="square" lIns="0" tIns="0" rIns="0" bIns="0" rtlCol="0" anchor="t"/>
          <a:lstStyle/>
          <a:p>
            <a:pPr indent="0" marL="0">
              <a:buNone/>
            </a:pPr>
            <a:r>
              <a:rPr lang="en-US" sz="1400" b="1" dirty="0">
                <a:solidFill>
                  <a:schemeClr val="accent1"/>
                </a:solidFill>
              </a:rPr>
              <a:t>1</a:t>
            </a:r>
            <a:endParaRPr lang="en-US" sz="1400" dirty="0"/>
          </a:p>
        </p:txBody>
      </p:sp>
      <p:sp>
        <p:nvSpPr>
          <p:cNvPr id="8" name="Stage 1 name"/>
          <p:cNvSpPr txBox="1"/>
          <p:nvPr/>
        </p:nvSpPr>
        <p:spPr>
          <a:xfrm>
            <a:off x="685800" y="3154680"/>
            <a:ext cx="1737360" cy="411480"/>
          </a:xfrm>
          <a:prstGeom prst="rect">
            <a:avLst/>
          </a:prstGeom>
          <a:noFill/>
          <a:ln/>
        </p:spPr>
        <p:txBody>
          <a:bodyPr wrap="square" lIns="0" tIns="0" rIns="0" bIns="0" rtlCol="0" anchor="t"/>
          <a:lstStyle/>
          <a:p>
            <a:pPr algn="ctr" indent="0" marL="0">
              <a:buNone/>
            </a:pPr>
            <a:r>
              <a:rPr lang="en-US" sz="1800" b="1" dirty="0">
                <a:solidFill>
                  <a:schemeClr val="tx2"/>
                </a:solidFill>
              </a:rPr>
              <a:t>Checkout</a:t>
            </a:r>
            <a:endParaRPr lang="en-US" sz="1800" dirty="0"/>
          </a:p>
        </p:txBody>
      </p:sp>
      <p:sp>
        <p:nvSpPr>
          <p:cNvPr id="9" name="Stage 1 detail"/>
          <p:cNvSpPr txBox="1"/>
          <p:nvPr/>
        </p:nvSpPr>
        <p:spPr>
          <a:xfrm>
            <a:off x="731520" y="3611880"/>
            <a:ext cx="1645920" cy="914400"/>
          </a:xfrm>
          <a:prstGeom prst="rect">
            <a:avLst/>
          </a:prstGeom>
          <a:noFill/>
          <a:ln/>
        </p:spPr>
        <p:txBody>
          <a:bodyPr wrap="square" lIns="0" tIns="0" rIns="0" bIns="0" rtlCol="0" anchor="t"/>
          <a:lstStyle/>
          <a:p>
            <a:pPr algn="ctr" indent="0" marL="0">
              <a:buNone/>
            </a:pPr>
            <a:r>
              <a:rPr lang="en-US" sz="1400" dirty="0">
                <a:solidFill>
                  <a:schemeClr val="tx1"/>
                </a:solidFill>
              </a:rPr>
              <a:t>Git SHA and AWS account resolved at runtime</a:t>
            </a:r>
            <a:endParaRPr lang="en-US" sz="1400" dirty="0"/>
          </a:p>
        </p:txBody>
      </p:sp>
      <p:sp>
        <p:nvSpPr>
          <p:cNvPr id="10" name="Arrow 1"/>
          <p:cNvSpPr/>
          <p:nvPr/>
        </p:nvSpPr>
        <p:spPr>
          <a:xfrm>
            <a:off x="2587752" y="3154680"/>
            <a:ext cx="201168" cy="274320"/>
          </a:xfrm>
          <a:prstGeom prst="rightArrow">
            <a:avLst/>
          </a:prstGeom>
          <a:solidFill>
            <a:schemeClr val="accent1"/>
          </a:solidFill>
          <a:ln w="12700">
            <a:solidFill>
              <a:schemeClr val="accent1"/>
            </a:solidFill>
            <a:prstDash val="solid"/>
          </a:ln>
        </p:spPr>
      </p:sp>
      <p:sp>
        <p:nvSpPr>
          <p:cNvPr id="11" name="Stage 2 card"/>
          <p:cNvSpPr/>
          <p:nvPr/>
        </p:nvSpPr>
        <p:spPr>
          <a:xfrm>
            <a:off x="2811780" y="1920240"/>
            <a:ext cx="2011680" cy="2743200"/>
          </a:xfrm>
          <a:prstGeom prst="roundRect">
            <a:avLst>
              <a:gd name="adj" fmla="val 5455"/>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12" name="Stage 2 circle"/>
          <p:cNvSpPr/>
          <p:nvPr/>
        </p:nvSpPr>
        <p:spPr>
          <a:xfrm>
            <a:off x="3451860" y="2240280"/>
            <a:ext cx="731520" cy="731520"/>
          </a:xfrm>
          <a:prstGeom prst="ellipse">
            <a:avLst/>
          </a:prstGeom>
          <a:solidFill>
            <a:schemeClr val="tx2"/>
          </a:solidFill>
          <a:ln w="12700">
            <a:solidFill>
              <a:schemeClr val="tx2"/>
            </a:solidFill>
            <a:prstDash val="solid"/>
          </a:ln>
        </p:spPr>
      </p:sp>
      <p:pic>
        <p:nvPicPr>
          <p:cNvPr id="13" name="Stage 2 icon" descr="preencoded.png">    </p:cNvPr>
          <p:cNvPicPr>
            <a:picLocks noChangeAspect="1"/>
          </p:cNvPicPr>
          <p:nvPr/>
        </p:nvPicPr>
        <p:blipFill>
          <a:blip r:embed="rId2"/>
          <a:stretch>
            <a:fillRect/>
          </a:stretch>
        </p:blipFill>
        <p:spPr>
          <a:xfrm>
            <a:off x="3627425" y="2415845"/>
            <a:ext cx="380390" cy="380390"/>
          </a:xfrm>
          <a:prstGeom prst="rect">
            <a:avLst/>
          </a:prstGeom>
        </p:spPr>
      </p:pic>
      <p:sp>
        <p:nvSpPr>
          <p:cNvPr id="14" name="Stage 2 number"/>
          <p:cNvSpPr txBox="1"/>
          <p:nvPr/>
        </p:nvSpPr>
        <p:spPr>
          <a:xfrm>
            <a:off x="2948940" y="2057400"/>
            <a:ext cx="365760" cy="320040"/>
          </a:xfrm>
          <a:prstGeom prst="rect">
            <a:avLst/>
          </a:prstGeom>
          <a:noFill/>
          <a:ln/>
        </p:spPr>
        <p:txBody>
          <a:bodyPr wrap="square" lIns="0" tIns="0" rIns="0" bIns="0" rtlCol="0" anchor="t"/>
          <a:lstStyle/>
          <a:p>
            <a:pPr indent="0" marL="0">
              <a:buNone/>
            </a:pPr>
            <a:r>
              <a:rPr lang="en-US" sz="1400" b="1" dirty="0">
                <a:solidFill>
                  <a:schemeClr val="accent1"/>
                </a:solidFill>
              </a:rPr>
              <a:t>2</a:t>
            </a:r>
            <a:endParaRPr lang="en-US" sz="1400" dirty="0"/>
          </a:p>
        </p:txBody>
      </p:sp>
      <p:sp>
        <p:nvSpPr>
          <p:cNvPr id="15" name="Stage 2 name"/>
          <p:cNvSpPr txBox="1"/>
          <p:nvPr/>
        </p:nvSpPr>
        <p:spPr>
          <a:xfrm>
            <a:off x="2948940" y="3154680"/>
            <a:ext cx="1737360" cy="411480"/>
          </a:xfrm>
          <a:prstGeom prst="rect">
            <a:avLst/>
          </a:prstGeom>
          <a:noFill/>
          <a:ln/>
        </p:spPr>
        <p:txBody>
          <a:bodyPr wrap="square" lIns="0" tIns="0" rIns="0" bIns="0" rtlCol="0" anchor="t"/>
          <a:lstStyle/>
          <a:p>
            <a:pPr algn="ctr" indent="0" marL="0">
              <a:buNone/>
            </a:pPr>
            <a:r>
              <a:rPr lang="en-US" sz="1800" b="1" dirty="0">
                <a:solidFill>
                  <a:schemeClr val="tx2"/>
                </a:solidFill>
              </a:rPr>
              <a:t>Unit Tests</a:t>
            </a:r>
            <a:endParaRPr lang="en-US" sz="1800" dirty="0"/>
          </a:p>
        </p:txBody>
      </p:sp>
      <p:sp>
        <p:nvSpPr>
          <p:cNvPr id="16" name="Stage 2 detail"/>
          <p:cNvSpPr txBox="1"/>
          <p:nvPr/>
        </p:nvSpPr>
        <p:spPr>
          <a:xfrm>
            <a:off x="2994660" y="3611880"/>
            <a:ext cx="1645920" cy="914400"/>
          </a:xfrm>
          <a:prstGeom prst="rect">
            <a:avLst/>
          </a:prstGeom>
          <a:noFill/>
          <a:ln/>
        </p:spPr>
        <p:txBody>
          <a:bodyPr wrap="square" lIns="0" tIns="0" rIns="0" bIns="0" rtlCol="0" anchor="t"/>
          <a:lstStyle/>
          <a:p>
            <a:pPr algn="ctr" indent="0" marL="0">
              <a:buNone/>
            </a:pPr>
            <a:r>
              <a:rPr lang="en-US" sz="1400" dirty="0">
                <a:solidFill>
                  <a:schemeClr val="tx1"/>
                </a:solidFill>
              </a:rPr>
              <a:t>5 Jest suites in parallel, 12 tests</a:t>
            </a:r>
            <a:endParaRPr lang="en-US" sz="1400" dirty="0"/>
          </a:p>
        </p:txBody>
      </p:sp>
      <p:sp>
        <p:nvSpPr>
          <p:cNvPr id="17" name="Arrow 2"/>
          <p:cNvSpPr/>
          <p:nvPr/>
        </p:nvSpPr>
        <p:spPr>
          <a:xfrm>
            <a:off x="4850892" y="3154680"/>
            <a:ext cx="201168" cy="274320"/>
          </a:xfrm>
          <a:prstGeom prst="rightArrow">
            <a:avLst/>
          </a:prstGeom>
          <a:solidFill>
            <a:schemeClr val="accent1"/>
          </a:solidFill>
          <a:ln w="12700">
            <a:solidFill>
              <a:schemeClr val="accent1"/>
            </a:solidFill>
            <a:prstDash val="solid"/>
          </a:ln>
        </p:spPr>
      </p:sp>
      <p:sp>
        <p:nvSpPr>
          <p:cNvPr id="18" name="Stage 3 card"/>
          <p:cNvSpPr/>
          <p:nvPr/>
        </p:nvSpPr>
        <p:spPr>
          <a:xfrm>
            <a:off x="5074920" y="1920240"/>
            <a:ext cx="2011680" cy="2743200"/>
          </a:xfrm>
          <a:prstGeom prst="roundRect">
            <a:avLst>
              <a:gd name="adj" fmla="val 5455"/>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19" name="Stage 3 circle"/>
          <p:cNvSpPr/>
          <p:nvPr/>
        </p:nvSpPr>
        <p:spPr>
          <a:xfrm>
            <a:off x="5715000" y="2240280"/>
            <a:ext cx="731520" cy="731520"/>
          </a:xfrm>
          <a:prstGeom prst="ellipse">
            <a:avLst/>
          </a:prstGeom>
          <a:solidFill>
            <a:schemeClr val="tx2"/>
          </a:solidFill>
          <a:ln w="12700">
            <a:solidFill>
              <a:schemeClr val="tx2"/>
            </a:solidFill>
            <a:prstDash val="solid"/>
          </a:ln>
        </p:spPr>
      </p:sp>
      <p:pic>
        <p:nvPicPr>
          <p:cNvPr id="20" name="Stage 3 icon" descr="preencoded.png">    </p:cNvPr>
          <p:cNvPicPr>
            <a:picLocks noChangeAspect="1"/>
          </p:cNvPicPr>
          <p:nvPr/>
        </p:nvPicPr>
        <p:blipFill>
          <a:blip r:embed="rId3"/>
          <a:stretch>
            <a:fillRect/>
          </a:stretch>
        </p:blipFill>
        <p:spPr>
          <a:xfrm>
            <a:off x="5890565" y="2415845"/>
            <a:ext cx="380390" cy="380390"/>
          </a:xfrm>
          <a:prstGeom prst="rect">
            <a:avLst/>
          </a:prstGeom>
        </p:spPr>
      </p:pic>
      <p:sp>
        <p:nvSpPr>
          <p:cNvPr id="21" name="Stage 3 number"/>
          <p:cNvSpPr txBox="1"/>
          <p:nvPr/>
        </p:nvSpPr>
        <p:spPr>
          <a:xfrm>
            <a:off x="5212080" y="2057400"/>
            <a:ext cx="365760" cy="320040"/>
          </a:xfrm>
          <a:prstGeom prst="rect">
            <a:avLst/>
          </a:prstGeom>
          <a:noFill/>
          <a:ln/>
        </p:spPr>
        <p:txBody>
          <a:bodyPr wrap="square" lIns="0" tIns="0" rIns="0" bIns="0" rtlCol="0" anchor="t"/>
          <a:lstStyle/>
          <a:p>
            <a:pPr indent="0" marL="0">
              <a:buNone/>
            </a:pPr>
            <a:r>
              <a:rPr lang="en-US" sz="1400" b="1" dirty="0">
                <a:solidFill>
                  <a:schemeClr val="accent1"/>
                </a:solidFill>
              </a:rPr>
              <a:t>3</a:t>
            </a:r>
            <a:endParaRPr lang="en-US" sz="1400" dirty="0"/>
          </a:p>
        </p:txBody>
      </p:sp>
      <p:sp>
        <p:nvSpPr>
          <p:cNvPr id="22" name="Stage 3 name"/>
          <p:cNvSpPr txBox="1"/>
          <p:nvPr/>
        </p:nvSpPr>
        <p:spPr>
          <a:xfrm>
            <a:off x="5212080" y="3154680"/>
            <a:ext cx="1737360" cy="411480"/>
          </a:xfrm>
          <a:prstGeom prst="rect">
            <a:avLst/>
          </a:prstGeom>
          <a:noFill/>
          <a:ln/>
        </p:spPr>
        <p:txBody>
          <a:bodyPr wrap="square" lIns="0" tIns="0" rIns="0" bIns="0" rtlCol="0" anchor="t"/>
          <a:lstStyle/>
          <a:p>
            <a:pPr algn="ctr" indent="0" marL="0">
              <a:buNone/>
            </a:pPr>
            <a:r>
              <a:rPr lang="en-US" sz="1800" b="1" dirty="0">
                <a:solidFill>
                  <a:schemeClr val="tx2"/>
                </a:solidFill>
              </a:rPr>
              <a:t>Build &amp; Push</a:t>
            </a:r>
            <a:endParaRPr lang="en-US" sz="1800" dirty="0"/>
          </a:p>
        </p:txBody>
      </p:sp>
      <p:sp>
        <p:nvSpPr>
          <p:cNvPr id="23" name="Stage 3 detail"/>
          <p:cNvSpPr txBox="1"/>
          <p:nvPr/>
        </p:nvSpPr>
        <p:spPr>
          <a:xfrm>
            <a:off x="5257800" y="3611880"/>
            <a:ext cx="1645920" cy="914400"/>
          </a:xfrm>
          <a:prstGeom prst="rect">
            <a:avLst/>
          </a:prstGeom>
          <a:noFill/>
          <a:ln/>
        </p:spPr>
        <p:txBody>
          <a:bodyPr wrap="square" lIns="0" tIns="0" rIns="0" bIns="0" rtlCol="0" anchor="t"/>
          <a:lstStyle/>
          <a:p>
            <a:pPr algn="ctr" indent="0" marL="0">
              <a:buNone/>
            </a:pPr>
            <a:r>
              <a:rPr lang="en-US" sz="1400" dirty="0">
                <a:solidFill>
                  <a:schemeClr val="tx1"/>
                </a:solidFill>
              </a:rPr>
              <a:t>5 images tagged with the git SHA, immutable ECR</a:t>
            </a:r>
            <a:endParaRPr lang="en-US" sz="1400" dirty="0"/>
          </a:p>
        </p:txBody>
      </p:sp>
      <p:sp>
        <p:nvSpPr>
          <p:cNvPr id="24" name="Arrow 3"/>
          <p:cNvSpPr/>
          <p:nvPr/>
        </p:nvSpPr>
        <p:spPr>
          <a:xfrm>
            <a:off x="7114032" y="3154680"/>
            <a:ext cx="201168" cy="274320"/>
          </a:xfrm>
          <a:prstGeom prst="rightArrow">
            <a:avLst/>
          </a:prstGeom>
          <a:solidFill>
            <a:schemeClr val="accent1"/>
          </a:solidFill>
          <a:ln w="12700">
            <a:solidFill>
              <a:schemeClr val="accent1"/>
            </a:solidFill>
            <a:prstDash val="solid"/>
          </a:ln>
        </p:spPr>
      </p:sp>
      <p:sp>
        <p:nvSpPr>
          <p:cNvPr id="25" name="Stage 4 card"/>
          <p:cNvSpPr/>
          <p:nvPr/>
        </p:nvSpPr>
        <p:spPr>
          <a:xfrm>
            <a:off x="7338060" y="1920240"/>
            <a:ext cx="2011680" cy="2743200"/>
          </a:xfrm>
          <a:prstGeom prst="roundRect">
            <a:avLst>
              <a:gd name="adj" fmla="val 5455"/>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26" name="Stage 4 circle"/>
          <p:cNvSpPr/>
          <p:nvPr/>
        </p:nvSpPr>
        <p:spPr>
          <a:xfrm>
            <a:off x="7978140" y="2240280"/>
            <a:ext cx="731520" cy="731520"/>
          </a:xfrm>
          <a:prstGeom prst="ellipse">
            <a:avLst/>
          </a:prstGeom>
          <a:solidFill>
            <a:schemeClr val="tx2"/>
          </a:solidFill>
          <a:ln w="12700">
            <a:solidFill>
              <a:schemeClr val="tx2"/>
            </a:solidFill>
            <a:prstDash val="solid"/>
          </a:ln>
        </p:spPr>
      </p:sp>
      <p:pic>
        <p:nvPicPr>
          <p:cNvPr id="27" name="Stage 4 icon" descr="preencoded.png">    </p:cNvPr>
          <p:cNvPicPr>
            <a:picLocks noChangeAspect="1"/>
          </p:cNvPicPr>
          <p:nvPr/>
        </p:nvPicPr>
        <p:blipFill>
          <a:blip r:embed="rId4"/>
          <a:stretch>
            <a:fillRect/>
          </a:stretch>
        </p:blipFill>
        <p:spPr>
          <a:xfrm>
            <a:off x="8153705" y="2415845"/>
            <a:ext cx="380390" cy="380390"/>
          </a:xfrm>
          <a:prstGeom prst="rect">
            <a:avLst/>
          </a:prstGeom>
        </p:spPr>
      </p:pic>
      <p:sp>
        <p:nvSpPr>
          <p:cNvPr id="28" name="Stage 4 number"/>
          <p:cNvSpPr txBox="1"/>
          <p:nvPr/>
        </p:nvSpPr>
        <p:spPr>
          <a:xfrm>
            <a:off x="7475220" y="2057400"/>
            <a:ext cx="365760" cy="320040"/>
          </a:xfrm>
          <a:prstGeom prst="rect">
            <a:avLst/>
          </a:prstGeom>
          <a:noFill/>
          <a:ln/>
        </p:spPr>
        <p:txBody>
          <a:bodyPr wrap="square" lIns="0" tIns="0" rIns="0" bIns="0" rtlCol="0" anchor="t"/>
          <a:lstStyle/>
          <a:p>
            <a:pPr indent="0" marL="0">
              <a:buNone/>
            </a:pPr>
            <a:r>
              <a:rPr lang="en-US" sz="1400" b="1" dirty="0">
                <a:solidFill>
                  <a:schemeClr val="accent1"/>
                </a:solidFill>
              </a:rPr>
              <a:t>4</a:t>
            </a:r>
            <a:endParaRPr lang="en-US" sz="1400" dirty="0"/>
          </a:p>
        </p:txBody>
      </p:sp>
      <p:sp>
        <p:nvSpPr>
          <p:cNvPr id="29" name="Stage 4 name"/>
          <p:cNvSpPr txBox="1"/>
          <p:nvPr/>
        </p:nvSpPr>
        <p:spPr>
          <a:xfrm>
            <a:off x="7475220" y="3154680"/>
            <a:ext cx="1737360" cy="411480"/>
          </a:xfrm>
          <a:prstGeom prst="rect">
            <a:avLst/>
          </a:prstGeom>
          <a:noFill/>
          <a:ln/>
        </p:spPr>
        <p:txBody>
          <a:bodyPr wrap="square" lIns="0" tIns="0" rIns="0" bIns="0" rtlCol="0" anchor="t"/>
          <a:lstStyle/>
          <a:p>
            <a:pPr algn="ctr" indent="0" marL="0">
              <a:buNone/>
            </a:pPr>
            <a:r>
              <a:rPr lang="en-US" sz="1800" b="1" dirty="0">
                <a:solidFill>
                  <a:schemeClr val="tx2"/>
                </a:solidFill>
              </a:rPr>
              <a:t>Deploy</a:t>
            </a:r>
            <a:endParaRPr lang="en-US" sz="1800" dirty="0"/>
          </a:p>
        </p:txBody>
      </p:sp>
      <p:sp>
        <p:nvSpPr>
          <p:cNvPr id="30" name="Stage 4 detail"/>
          <p:cNvSpPr txBox="1"/>
          <p:nvPr/>
        </p:nvSpPr>
        <p:spPr>
          <a:xfrm>
            <a:off x="7520940" y="3611880"/>
            <a:ext cx="1645920" cy="914400"/>
          </a:xfrm>
          <a:prstGeom prst="rect">
            <a:avLst/>
          </a:prstGeom>
          <a:noFill/>
          <a:ln/>
        </p:spPr>
        <p:txBody>
          <a:bodyPr wrap="square" lIns="0" tIns="0" rIns="0" bIns="0" rtlCol="0" anchor="t"/>
          <a:lstStyle/>
          <a:p>
            <a:pPr algn="ctr" indent="0" marL="0">
              <a:buNone/>
            </a:pPr>
            <a:r>
              <a:rPr lang="en-US" sz="1400" dirty="0">
                <a:solidFill>
                  <a:schemeClr val="tx1"/>
                </a:solidFill>
              </a:rPr>
              <a:t>MongoDB, Helm with auto‑rollback, ALB Ingress</a:t>
            </a:r>
            <a:endParaRPr lang="en-US" sz="1400" dirty="0"/>
          </a:p>
        </p:txBody>
      </p:sp>
      <p:sp>
        <p:nvSpPr>
          <p:cNvPr id="31" name="Arrow 4"/>
          <p:cNvSpPr/>
          <p:nvPr/>
        </p:nvSpPr>
        <p:spPr>
          <a:xfrm>
            <a:off x="9377172" y="3154680"/>
            <a:ext cx="201168" cy="274320"/>
          </a:xfrm>
          <a:prstGeom prst="rightArrow">
            <a:avLst/>
          </a:prstGeom>
          <a:solidFill>
            <a:schemeClr val="accent1"/>
          </a:solidFill>
          <a:ln w="12700">
            <a:solidFill>
              <a:schemeClr val="accent1"/>
            </a:solidFill>
            <a:prstDash val="solid"/>
          </a:ln>
        </p:spPr>
      </p:sp>
      <p:sp>
        <p:nvSpPr>
          <p:cNvPr id="32" name="Stage 5 card"/>
          <p:cNvSpPr/>
          <p:nvPr/>
        </p:nvSpPr>
        <p:spPr>
          <a:xfrm>
            <a:off x="9601200" y="1920240"/>
            <a:ext cx="2011680" cy="2743200"/>
          </a:xfrm>
          <a:prstGeom prst="roundRect">
            <a:avLst>
              <a:gd name="adj" fmla="val 5455"/>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33" name="Stage 5 circle"/>
          <p:cNvSpPr/>
          <p:nvPr/>
        </p:nvSpPr>
        <p:spPr>
          <a:xfrm>
            <a:off x="10241280" y="2240280"/>
            <a:ext cx="731520" cy="731520"/>
          </a:xfrm>
          <a:prstGeom prst="ellipse">
            <a:avLst/>
          </a:prstGeom>
          <a:solidFill>
            <a:schemeClr val="tx2"/>
          </a:solidFill>
          <a:ln w="12700">
            <a:solidFill>
              <a:schemeClr val="tx2"/>
            </a:solidFill>
            <a:prstDash val="solid"/>
          </a:ln>
        </p:spPr>
      </p:sp>
      <p:pic>
        <p:nvPicPr>
          <p:cNvPr id="34" name="Stage 5 icon" descr="preencoded.png">    </p:cNvPr>
          <p:cNvPicPr>
            <a:picLocks noChangeAspect="1"/>
          </p:cNvPicPr>
          <p:nvPr/>
        </p:nvPicPr>
        <p:blipFill>
          <a:blip r:embed="rId5"/>
          <a:stretch>
            <a:fillRect/>
          </a:stretch>
        </p:blipFill>
        <p:spPr>
          <a:xfrm>
            <a:off x="10416845" y="2415845"/>
            <a:ext cx="380390" cy="380390"/>
          </a:xfrm>
          <a:prstGeom prst="rect">
            <a:avLst/>
          </a:prstGeom>
        </p:spPr>
      </p:pic>
      <p:sp>
        <p:nvSpPr>
          <p:cNvPr id="35" name="Stage 5 number"/>
          <p:cNvSpPr txBox="1"/>
          <p:nvPr/>
        </p:nvSpPr>
        <p:spPr>
          <a:xfrm>
            <a:off x="9738360" y="2057400"/>
            <a:ext cx="365760" cy="320040"/>
          </a:xfrm>
          <a:prstGeom prst="rect">
            <a:avLst/>
          </a:prstGeom>
          <a:noFill/>
          <a:ln/>
        </p:spPr>
        <p:txBody>
          <a:bodyPr wrap="square" lIns="0" tIns="0" rIns="0" bIns="0" rtlCol="0" anchor="t"/>
          <a:lstStyle/>
          <a:p>
            <a:pPr indent="0" marL="0">
              <a:buNone/>
            </a:pPr>
            <a:r>
              <a:rPr lang="en-US" sz="1400" b="1" dirty="0">
                <a:solidFill>
                  <a:schemeClr val="accent1"/>
                </a:solidFill>
              </a:rPr>
              <a:t>5</a:t>
            </a:r>
            <a:endParaRPr lang="en-US" sz="1400" dirty="0"/>
          </a:p>
        </p:txBody>
      </p:sp>
      <p:sp>
        <p:nvSpPr>
          <p:cNvPr id="36" name="Stage 5 name"/>
          <p:cNvSpPr txBox="1"/>
          <p:nvPr/>
        </p:nvSpPr>
        <p:spPr>
          <a:xfrm>
            <a:off x="9738360" y="3154680"/>
            <a:ext cx="1737360" cy="411480"/>
          </a:xfrm>
          <a:prstGeom prst="rect">
            <a:avLst/>
          </a:prstGeom>
          <a:noFill/>
          <a:ln/>
        </p:spPr>
        <p:txBody>
          <a:bodyPr wrap="square" lIns="0" tIns="0" rIns="0" bIns="0" rtlCol="0" anchor="t"/>
          <a:lstStyle/>
          <a:p>
            <a:pPr algn="ctr" indent="0" marL="0">
              <a:buNone/>
            </a:pPr>
            <a:r>
              <a:rPr lang="en-US" sz="1800" b="1" dirty="0">
                <a:solidFill>
                  <a:schemeClr val="tx2"/>
                </a:solidFill>
              </a:rPr>
              <a:t>Smoke Tests</a:t>
            </a:r>
            <a:endParaRPr lang="en-US" sz="1800" dirty="0"/>
          </a:p>
        </p:txBody>
      </p:sp>
      <p:sp>
        <p:nvSpPr>
          <p:cNvPr id="37" name="Stage 5 detail"/>
          <p:cNvSpPr txBox="1"/>
          <p:nvPr/>
        </p:nvSpPr>
        <p:spPr>
          <a:xfrm>
            <a:off x="9784080" y="3611880"/>
            <a:ext cx="1645920" cy="914400"/>
          </a:xfrm>
          <a:prstGeom prst="rect">
            <a:avLst/>
          </a:prstGeom>
          <a:noFill/>
          <a:ln/>
        </p:spPr>
        <p:txBody>
          <a:bodyPr wrap="square" lIns="0" tIns="0" rIns="0" bIns="0" rtlCol="0" anchor="t"/>
          <a:lstStyle/>
          <a:p>
            <a:pPr algn="ctr" indent="0" marL="0">
              <a:buNone/>
            </a:pPr>
            <a:r>
              <a:rPr lang="en-US" sz="1400" dirty="0">
                <a:solidFill>
                  <a:schemeClr val="tx1"/>
                </a:solidFill>
              </a:rPr>
              <a:t>4 in-cluster checks plus checks through the ALB</a:t>
            </a:r>
            <a:endParaRPr lang="en-US" sz="1400" dirty="0"/>
          </a:p>
        </p:txBody>
      </p:sp>
      <p:sp>
        <p:nvSpPr>
          <p:cNvPr id="38" name="Result card"/>
          <p:cNvSpPr/>
          <p:nvPr/>
        </p:nvSpPr>
        <p:spPr>
          <a:xfrm>
            <a:off x="548640" y="4983480"/>
            <a:ext cx="11064240" cy="1188720"/>
          </a:xfrm>
          <a:prstGeom prst="roundRect">
            <a:avLst>
              <a:gd name="adj" fmla="val 9231"/>
            </a:avLst>
          </a:prstGeom>
          <a:solidFill>
            <a:schemeClr val="accent6"/>
          </a:solidFill>
          <a:ln w="12700">
            <a:solidFill>
              <a:schemeClr val="accent6"/>
            </a:solidFill>
            <a:prstDash val="solid"/>
          </a:ln>
          <a:effectLst>
            <a:outerShdw sx="100000" sy="100000" kx="0" ky="0" algn="bl" rotWithShape="0" blurRad="76200" dist="25400" dir="5400000">
              <a:srgbClr val="94A3B8">
                <a:alpha val="25000"/>
              </a:srgbClr>
            </a:outerShdw>
          </a:effectLst>
        </p:spPr>
      </p:sp>
      <p:sp>
        <p:nvSpPr>
          <p:cNvPr id="39" name="Result circle"/>
          <p:cNvSpPr/>
          <p:nvPr/>
        </p:nvSpPr>
        <p:spPr>
          <a:xfrm>
            <a:off x="822960" y="5212080"/>
            <a:ext cx="731520" cy="731520"/>
          </a:xfrm>
          <a:prstGeom prst="ellipse">
            <a:avLst/>
          </a:prstGeom>
          <a:solidFill>
            <a:schemeClr val="accent5"/>
          </a:solidFill>
          <a:ln w="12700">
            <a:solidFill>
              <a:schemeClr val="accent5"/>
            </a:solidFill>
            <a:prstDash val="solid"/>
          </a:ln>
        </p:spPr>
      </p:sp>
      <p:pic>
        <p:nvPicPr>
          <p:cNvPr id="40" name="Result icon" descr="preencoded.png">    </p:cNvPr>
          <p:cNvPicPr>
            <a:picLocks noChangeAspect="1"/>
          </p:cNvPicPr>
          <p:nvPr/>
        </p:nvPicPr>
        <p:blipFill>
          <a:blip r:embed="rId6"/>
          <a:stretch>
            <a:fillRect/>
          </a:stretch>
        </p:blipFill>
        <p:spPr>
          <a:xfrm>
            <a:off x="998525" y="5387645"/>
            <a:ext cx="380390" cy="380390"/>
          </a:xfrm>
          <a:prstGeom prst="rect">
            <a:avLst/>
          </a:prstGeom>
        </p:spPr>
      </p:pic>
      <p:sp>
        <p:nvSpPr>
          <p:cNvPr id="41" name="Result text"/>
          <p:cNvSpPr txBox="1"/>
          <p:nvPr/>
        </p:nvSpPr>
        <p:spPr>
          <a:xfrm>
            <a:off x="1783080" y="5120640"/>
            <a:ext cx="9601200" cy="914400"/>
          </a:xfrm>
          <a:prstGeom prst="rect">
            <a:avLst/>
          </a:prstGeom>
          <a:noFill/>
          <a:ln/>
        </p:spPr>
        <p:txBody>
          <a:bodyPr wrap="square" lIns="0" tIns="0" rIns="0" bIns="0" rtlCol="0" anchor="ctr"/>
          <a:lstStyle/>
          <a:p>
            <a:pPr indent="0" marL="0">
              <a:buNone/>
            </a:pPr>
            <a:r>
              <a:rPr lang="en-US" sz="2000" b="1" dirty="0">
                <a:solidFill>
                  <a:schemeClr val="tx2"/>
                </a:solidFill>
              </a:rPr>
              <a:t>Build #5: all stages green</a:t>
            </a:r>
            <a:endParaRPr lang="en-US" sz="2000" dirty="0"/>
          </a:p>
          <a:p>
            <a:pPr indent="0" marL="0">
              <a:buNone/>
            </a:pPr>
            <a:r>
              <a:rPr lang="en-US" sz="1500" dirty="0">
                <a:solidFill>
                  <a:schemeClr val="tx1"/>
                </a:solidFill>
              </a:rPr>
              <a:t>Helm release deployed, every service healthy in-cluster, and the app answering through the AWS load balancer</a:t>
            </a:r>
            <a:endParaRPr lang="en-US" sz="2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Built-In Health Checks, Scaling and Rollback</a:t>
            </a:r>
            <a:endParaRPr lang="en-US" sz="34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algn="l" indent="0" marL="0">
              <a:buNone/>
            </a:pPr>
            <a:r>
              <a:rPr lang="en-US" sz="1600" dirty="0">
                <a:solidFill>
                  <a:schemeClr val="accent4"/>
                </a:solidFill>
              </a:rPr>
              <a:t>Configured in the Helm chart and the Ingress, applied by every deploy</a:t>
            </a:r>
            <a:endParaRPr lang="en-US" sz="1600" dirty="0"/>
          </a:p>
        </p:txBody>
      </p:sp>
      <p:sp>
        <p:nvSpPr>
          <p:cNvPr id="4" name="Resilience card 1"/>
          <p:cNvSpPr/>
          <p:nvPr/>
        </p:nvSpPr>
        <p:spPr>
          <a:xfrm>
            <a:off x="548640" y="1783080"/>
            <a:ext cx="5440680" cy="2011680"/>
          </a:xfrm>
          <a:prstGeom prst="roundRect">
            <a:avLst>
              <a:gd name="adj" fmla="val 5455"/>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5" name="Resilience 1 circle"/>
          <p:cNvSpPr/>
          <p:nvPr/>
        </p:nvSpPr>
        <p:spPr>
          <a:xfrm>
            <a:off x="868680" y="2148840"/>
            <a:ext cx="731520" cy="731520"/>
          </a:xfrm>
          <a:prstGeom prst="ellipse">
            <a:avLst/>
          </a:prstGeom>
          <a:solidFill>
            <a:schemeClr val="accent1"/>
          </a:solidFill>
          <a:ln w="12700">
            <a:solidFill>
              <a:schemeClr val="accent1"/>
            </a:solidFill>
            <a:prstDash val="solid"/>
          </a:ln>
        </p:spPr>
      </p:sp>
      <p:pic>
        <p:nvPicPr>
          <p:cNvPr id="6" name="Resilience 1 icon" descr="preencoded.png">    </p:cNvPr>
          <p:cNvPicPr>
            <a:picLocks noChangeAspect="1"/>
          </p:cNvPicPr>
          <p:nvPr/>
        </p:nvPicPr>
        <p:blipFill>
          <a:blip r:embed="rId1"/>
          <a:stretch>
            <a:fillRect/>
          </a:stretch>
        </p:blipFill>
        <p:spPr>
          <a:xfrm>
            <a:off x="1044245" y="2324405"/>
            <a:ext cx="380390" cy="380390"/>
          </a:xfrm>
          <a:prstGeom prst="rect">
            <a:avLst/>
          </a:prstGeom>
        </p:spPr>
      </p:pic>
      <p:sp>
        <p:nvSpPr>
          <p:cNvPr id="7" name="Resilience 1 title"/>
          <p:cNvSpPr txBox="1"/>
          <p:nvPr/>
        </p:nvSpPr>
        <p:spPr>
          <a:xfrm>
            <a:off x="1874520" y="2148840"/>
            <a:ext cx="3840480" cy="411480"/>
          </a:xfrm>
          <a:prstGeom prst="rect">
            <a:avLst/>
          </a:prstGeom>
          <a:noFill/>
          <a:ln/>
        </p:spPr>
        <p:txBody>
          <a:bodyPr wrap="square" lIns="0" tIns="0" rIns="0" bIns="0" rtlCol="0" anchor="t"/>
          <a:lstStyle/>
          <a:p>
            <a:pPr indent="0" marL="0">
              <a:buNone/>
            </a:pPr>
            <a:r>
              <a:rPr lang="en-US" sz="2000" b="1" dirty="0">
                <a:solidFill>
                  <a:schemeClr val="tx2"/>
                </a:solidFill>
              </a:rPr>
              <a:t>Health checks</a:t>
            </a:r>
            <a:endParaRPr lang="en-US" sz="2000" dirty="0"/>
          </a:p>
        </p:txBody>
      </p:sp>
      <p:sp>
        <p:nvSpPr>
          <p:cNvPr id="8" name="Resilience 1 detail"/>
          <p:cNvSpPr txBox="1"/>
          <p:nvPr/>
        </p:nvSpPr>
        <p:spPr>
          <a:xfrm>
            <a:off x="1874520" y="2606040"/>
            <a:ext cx="3840480" cy="1051560"/>
          </a:xfrm>
          <a:prstGeom prst="rect">
            <a:avLst/>
          </a:prstGeom>
          <a:noFill/>
          <a:ln/>
        </p:spPr>
        <p:txBody>
          <a:bodyPr wrap="square" lIns="0" tIns="0" rIns="0" bIns="0" rtlCol="0" anchor="t"/>
          <a:lstStyle/>
          <a:p>
            <a:pPr indent="0" marL="0">
              <a:buNone/>
            </a:pPr>
            <a:r>
              <a:rPr lang="en-US" sz="1500" dirty="0">
                <a:solidFill>
                  <a:schemeClr val="tx1"/>
                </a:solidFill>
              </a:rPr>
              <a:t>Liveness and readiness probes on /api/health (frontend /health) gate every rollout</a:t>
            </a:r>
            <a:endParaRPr lang="en-US" sz="1500" dirty="0"/>
          </a:p>
        </p:txBody>
      </p:sp>
      <p:sp>
        <p:nvSpPr>
          <p:cNvPr id="9" name="Resilience card 2"/>
          <p:cNvSpPr/>
          <p:nvPr/>
        </p:nvSpPr>
        <p:spPr>
          <a:xfrm>
            <a:off x="6172200" y="1783080"/>
            <a:ext cx="5440680" cy="2011680"/>
          </a:xfrm>
          <a:prstGeom prst="roundRect">
            <a:avLst>
              <a:gd name="adj" fmla="val 5455"/>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10" name="Resilience 2 circle"/>
          <p:cNvSpPr/>
          <p:nvPr/>
        </p:nvSpPr>
        <p:spPr>
          <a:xfrm>
            <a:off x="6492240" y="2148840"/>
            <a:ext cx="731520" cy="731520"/>
          </a:xfrm>
          <a:prstGeom prst="ellipse">
            <a:avLst/>
          </a:prstGeom>
          <a:solidFill>
            <a:schemeClr val="accent1"/>
          </a:solidFill>
          <a:ln w="12700">
            <a:solidFill>
              <a:schemeClr val="accent1"/>
            </a:solidFill>
            <a:prstDash val="solid"/>
          </a:ln>
        </p:spPr>
      </p:sp>
      <p:pic>
        <p:nvPicPr>
          <p:cNvPr id="11" name="Resilience 2 icon" descr="preencoded.png">    </p:cNvPr>
          <p:cNvPicPr>
            <a:picLocks noChangeAspect="1"/>
          </p:cNvPicPr>
          <p:nvPr/>
        </p:nvPicPr>
        <p:blipFill>
          <a:blip r:embed="rId2"/>
          <a:stretch>
            <a:fillRect/>
          </a:stretch>
        </p:blipFill>
        <p:spPr>
          <a:xfrm>
            <a:off x="6667805" y="2324405"/>
            <a:ext cx="380390" cy="380390"/>
          </a:xfrm>
          <a:prstGeom prst="rect">
            <a:avLst/>
          </a:prstGeom>
        </p:spPr>
      </p:pic>
      <p:sp>
        <p:nvSpPr>
          <p:cNvPr id="12" name="Resilience 2 title"/>
          <p:cNvSpPr txBox="1"/>
          <p:nvPr/>
        </p:nvSpPr>
        <p:spPr>
          <a:xfrm>
            <a:off x="7498080" y="2148840"/>
            <a:ext cx="3840480" cy="411480"/>
          </a:xfrm>
          <a:prstGeom prst="rect">
            <a:avLst/>
          </a:prstGeom>
          <a:noFill/>
          <a:ln/>
        </p:spPr>
        <p:txBody>
          <a:bodyPr wrap="square" lIns="0" tIns="0" rIns="0" bIns="0" rtlCol="0" anchor="t"/>
          <a:lstStyle/>
          <a:p>
            <a:pPr indent="0" marL="0">
              <a:buNone/>
            </a:pPr>
            <a:r>
              <a:rPr lang="en-US" sz="2000" b="1" dirty="0">
                <a:solidFill>
                  <a:schemeClr val="tx2"/>
                </a:solidFill>
              </a:rPr>
              <a:t>Autoscaling</a:t>
            </a:r>
            <a:endParaRPr lang="en-US" sz="2000" dirty="0"/>
          </a:p>
        </p:txBody>
      </p:sp>
      <p:sp>
        <p:nvSpPr>
          <p:cNvPr id="13" name="Resilience 2 detail"/>
          <p:cNvSpPr txBox="1"/>
          <p:nvPr/>
        </p:nvSpPr>
        <p:spPr>
          <a:xfrm>
            <a:off x="7498080" y="2606040"/>
            <a:ext cx="3840480" cy="1051560"/>
          </a:xfrm>
          <a:prstGeom prst="rect">
            <a:avLst/>
          </a:prstGeom>
          <a:noFill/>
          <a:ln/>
        </p:spPr>
        <p:txBody>
          <a:bodyPr wrap="square" lIns="0" tIns="0" rIns="0" bIns="0" rtlCol="0" anchor="t"/>
          <a:lstStyle/>
          <a:p>
            <a:pPr indent="0" marL="0">
              <a:buNone/>
            </a:pPr>
            <a:r>
              <a:rPr lang="en-US" sz="1500" dirty="0">
                <a:solidFill>
                  <a:schemeClr val="tx1"/>
                </a:solidFill>
              </a:rPr>
              <a:t>HPAs scale auth, streaming and chat from 1 up to 6–10 replicas at 60–70% CPU, fed by metrics‑server</a:t>
            </a:r>
            <a:endParaRPr lang="en-US" sz="1500" dirty="0"/>
          </a:p>
        </p:txBody>
      </p:sp>
      <p:sp>
        <p:nvSpPr>
          <p:cNvPr id="14" name="Resilience card 3"/>
          <p:cNvSpPr/>
          <p:nvPr/>
        </p:nvSpPr>
        <p:spPr>
          <a:xfrm>
            <a:off x="548640" y="4023360"/>
            <a:ext cx="5440680" cy="2011680"/>
          </a:xfrm>
          <a:prstGeom prst="roundRect">
            <a:avLst>
              <a:gd name="adj" fmla="val 5455"/>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15" name="Resilience 3 circle"/>
          <p:cNvSpPr/>
          <p:nvPr/>
        </p:nvSpPr>
        <p:spPr>
          <a:xfrm>
            <a:off x="868680" y="4389120"/>
            <a:ext cx="731520" cy="731520"/>
          </a:xfrm>
          <a:prstGeom prst="ellipse">
            <a:avLst/>
          </a:prstGeom>
          <a:solidFill>
            <a:schemeClr val="accent1"/>
          </a:solidFill>
          <a:ln w="12700">
            <a:solidFill>
              <a:schemeClr val="accent1"/>
            </a:solidFill>
            <a:prstDash val="solid"/>
          </a:ln>
        </p:spPr>
      </p:sp>
      <p:pic>
        <p:nvPicPr>
          <p:cNvPr id="16" name="Resilience 3 icon" descr="preencoded.png">    </p:cNvPr>
          <p:cNvPicPr>
            <a:picLocks noChangeAspect="1"/>
          </p:cNvPicPr>
          <p:nvPr/>
        </p:nvPicPr>
        <p:blipFill>
          <a:blip r:embed="rId3"/>
          <a:stretch>
            <a:fillRect/>
          </a:stretch>
        </p:blipFill>
        <p:spPr>
          <a:xfrm>
            <a:off x="1044245" y="4564685"/>
            <a:ext cx="380390" cy="380390"/>
          </a:xfrm>
          <a:prstGeom prst="rect">
            <a:avLst/>
          </a:prstGeom>
        </p:spPr>
      </p:pic>
      <p:sp>
        <p:nvSpPr>
          <p:cNvPr id="17" name="Resilience 3 title"/>
          <p:cNvSpPr txBox="1"/>
          <p:nvPr/>
        </p:nvSpPr>
        <p:spPr>
          <a:xfrm>
            <a:off x="1874520" y="4389120"/>
            <a:ext cx="3840480" cy="411480"/>
          </a:xfrm>
          <a:prstGeom prst="rect">
            <a:avLst/>
          </a:prstGeom>
          <a:noFill/>
          <a:ln/>
        </p:spPr>
        <p:txBody>
          <a:bodyPr wrap="square" lIns="0" tIns="0" rIns="0" bIns="0" rtlCol="0" anchor="t"/>
          <a:lstStyle/>
          <a:p>
            <a:pPr indent="0" marL="0">
              <a:buNone/>
            </a:pPr>
            <a:r>
              <a:rPr lang="en-US" sz="2000" b="1" dirty="0">
                <a:solidFill>
                  <a:schemeClr val="tx2"/>
                </a:solidFill>
              </a:rPr>
              <a:t>Safe rollouts</a:t>
            </a:r>
            <a:endParaRPr lang="en-US" sz="2000" dirty="0"/>
          </a:p>
        </p:txBody>
      </p:sp>
      <p:sp>
        <p:nvSpPr>
          <p:cNvPr id="18" name="Resilience 3 detail"/>
          <p:cNvSpPr txBox="1"/>
          <p:nvPr/>
        </p:nvSpPr>
        <p:spPr>
          <a:xfrm>
            <a:off x="1874520" y="4846320"/>
            <a:ext cx="3840480" cy="1051560"/>
          </a:xfrm>
          <a:prstGeom prst="rect">
            <a:avLst/>
          </a:prstGeom>
          <a:noFill/>
          <a:ln/>
        </p:spPr>
        <p:txBody>
          <a:bodyPr wrap="square" lIns="0" tIns="0" rIns="0" bIns="0" rtlCol="0" anchor="t"/>
          <a:lstStyle/>
          <a:p>
            <a:pPr indent="0" marL="0">
              <a:buNone/>
            </a:pPr>
            <a:r>
              <a:rPr lang="en-US" sz="1500" dirty="0">
                <a:solidFill>
                  <a:schemeClr val="tx1"/>
                </a:solidFill>
              </a:rPr>
              <a:t>Rolling updates with maxUnavailable 0; Helm rolls back automatically if pods fail their checks</a:t>
            </a:r>
            <a:endParaRPr lang="en-US" sz="1500" dirty="0"/>
          </a:p>
        </p:txBody>
      </p:sp>
      <p:sp>
        <p:nvSpPr>
          <p:cNvPr id="19" name="Resilience card 4"/>
          <p:cNvSpPr/>
          <p:nvPr/>
        </p:nvSpPr>
        <p:spPr>
          <a:xfrm>
            <a:off x="6172200" y="4023360"/>
            <a:ext cx="5440680" cy="2011680"/>
          </a:xfrm>
          <a:prstGeom prst="roundRect">
            <a:avLst>
              <a:gd name="adj" fmla="val 5455"/>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20" name="Resilience 4 circle"/>
          <p:cNvSpPr/>
          <p:nvPr/>
        </p:nvSpPr>
        <p:spPr>
          <a:xfrm>
            <a:off x="6492240" y="4389120"/>
            <a:ext cx="731520" cy="731520"/>
          </a:xfrm>
          <a:prstGeom prst="ellipse">
            <a:avLst/>
          </a:prstGeom>
          <a:solidFill>
            <a:schemeClr val="accent1"/>
          </a:solidFill>
          <a:ln w="12700">
            <a:solidFill>
              <a:schemeClr val="accent1"/>
            </a:solidFill>
            <a:prstDash val="solid"/>
          </a:ln>
        </p:spPr>
      </p:sp>
      <p:pic>
        <p:nvPicPr>
          <p:cNvPr id="21" name="Resilience 4 icon" descr="preencoded.png">    </p:cNvPr>
          <p:cNvPicPr>
            <a:picLocks noChangeAspect="1"/>
          </p:cNvPicPr>
          <p:nvPr/>
        </p:nvPicPr>
        <p:blipFill>
          <a:blip r:embed="rId4"/>
          <a:stretch>
            <a:fillRect/>
          </a:stretch>
        </p:blipFill>
        <p:spPr>
          <a:xfrm>
            <a:off x="6667805" y="4564685"/>
            <a:ext cx="380390" cy="380390"/>
          </a:xfrm>
          <a:prstGeom prst="rect">
            <a:avLst/>
          </a:prstGeom>
        </p:spPr>
      </p:pic>
      <p:sp>
        <p:nvSpPr>
          <p:cNvPr id="22" name="Resilience 4 title"/>
          <p:cNvSpPr txBox="1"/>
          <p:nvPr/>
        </p:nvSpPr>
        <p:spPr>
          <a:xfrm>
            <a:off x="7498080" y="4389120"/>
            <a:ext cx="3840480" cy="411480"/>
          </a:xfrm>
          <a:prstGeom prst="rect">
            <a:avLst/>
          </a:prstGeom>
          <a:noFill/>
          <a:ln/>
        </p:spPr>
        <p:txBody>
          <a:bodyPr wrap="square" lIns="0" tIns="0" rIns="0" bIns="0" rtlCol="0" anchor="t"/>
          <a:lstStyle/>
          <a:p>
            <a:pPr indent="0" marL="0">
              <a:buNone/>
            </a:pPr>
            <a:r>
              <a:rPr lang="en-US" sz="2000" b="1" dirty="0">
                <a:solidFill>
                  <a:schemeClr val="tx2"/>
                </a:solidFill>
              </a:rPr>
              <a:t>Path routing</a:t>
            </a:r>
            <a:endParaRPr lang="en-US" sz="2000" dirty="0"/>
          </a:p>
        </p:txBody>
      </p:sp>
      <p:sp>
        <p:nvSpPr>
          <p:cNvPr id="23" name="Resilience 4 detail"/>
          <p:cNvSpPr txBox="1"/>
          <p:nvPr/>
        </p:nvSpPr>
        <p:spPr>
          <a:xfrm>
            <a:off x="7498080" y="4846320"/>
            <a:ext cx="3840480" cy="1051560"/>
          </a:xfrm>
          <a:prstGeom prst="rect">
            <a:avLst/>
          </a:prstGeom>
          <a:noFill/>
          <a:ln/>
        </p:spPr>
        <p:txBody>
          <a:bodyPr wrap="square" lIns="0" tIns="0" rIns="0" bIns="0" rtlCol="0" anchor="t"/>
          <a:lstStyle/>
          <a:p>
            <a:pPr indent="0" marL="0">
              <a:buNone/>
            </a:pPr>
            <a:r>
              <a:rPr lang="en-US" sz="1500" dirty="0">
                <a:solidFill>
                  <a:schemeClr val="tx1"/>
                </a:solidFill>
              </a:rPr>
              <a:t>One ALB: /api/auth, /api/streaming, /api/admin, /api/chat and /socket.io to services, / to the SPA</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Earlier Review Feedback, Addressed</a:t>
            </a:r>
            <a:endParaRPr lang="en-US" sz="34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algn="l" indent="0" marL="0">
              <a:buNone/>
            </a:pPr>
            <a:r>
              <a:rPr lang="en-US" sz="1600" dirty="0">
                <a:solidFill>
                  <a:schemeClr val="accent4"/>
                </a:solidFill>
              </a:rPr>
              <a:t>None of the three earlier findings is repeated in this project</a:t>
            </a:r>
            <a:endParaRPr lang="en-US" sz="1600" dirty="0"/>
          </a:p>
        </p:txBody>
      </p:sp>
      <p:sp>
        <p:nvSpPr>
          <p:cNvPr id="4" name="Feedback card 1"/>
          <p:cNvSpPr/>
          <p:nvPr/>
        </p:nvSpPr>
        <p:spPr>
          <a:xfrm>
            <a:off x="548640" y="1783080"/>
            <a:ext cx="3520440" cy="3703320"/>
          </a:xfrm>
          <a:prstGeom prst="roundRect">
            <a:avLst>
              <a:gd name="adj" fmla="val 3117"/>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5" name="Feedback 1 circle"/>
          <p:cNvSpPr/>
          <p:nvPr/>
        </p:nvSpPr>
        <p:spPr>
          <a:xfrm>
            <a:off x="868680" y="2103120"/>
            <a:ext cx="685800" cy="685800"/>
          </a:xfrm>
          <a:prstGeom prst="ellipse">
            <a:avLst/>
          </a:prstGeom>
          <a:solidFill>
            <a:schemeClr val="accent2"/>
          </a:solidFill>
          <a:ln w="12700">
            <a:solidFill>
              <a:schemeClr val="accent2"/>
            </a:solidFill>
            <a:prstDash val="solid"/>
          </a:ln>
        </p:spPr>
      </p:sp>
      <p:pic>
        <p:nvPicPr>
          <p:cNvPr id="6" name="Feedback 1 icon" descr="preencoded.png">    </p:cNvPr>
          <p:cNvPicPr>
            <a:picLocks noChangeAspect="1"/>
          </p:cNvPicPr>
          <p:nvPr/>
        </p:nvPicPr>
        <p:blipFill>
          <a:blip r:embed="rId1"/>
          <a:stretch>
            <a:fillRect/>
          </a:stretch>
        </p:blipFill>
        <p:spPr>
          <a:xfrm>
            <a:off x="1033272" y="2267712"/>
            <a:ext cx="356616" cy="356616"/>
          </a:xfrm>
          <a:prstGeom prst="rect">
            <a:avLst/>
          </a:prstGeom>
        </p:spPr>
      </p:pic>
      <p:sp>
        <p:nvSpPr>
          <p:cNvPr id="7" name="Feedback 1 label"/>
          <p:cNvSpPr txBox="1"/>
          <p:nvPr/>
        </p:nvSpPr>
        <p:spPr>
          <a:xfrm>
            <a:off x="868680" y="2971800"/>
            <a:ext cx="28803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FEEDBACK</a:t>
            </a:r>
            <a:endParaRPr lang="en-US" sz="1200" dirty="0"/>
          </a:p>
        </p:txBody>
      </p:sp>
      <p:sp>
        <p:nvSpPr>
          <p:cNvPr id="8" name="Feedback 1 finding"/>
          <p:cNvSpPr txBox="1"/>
          <p:nvPr/>
        </p:nvSpPr>
        <p:spPr>
          <a:xfrm>
            <a:off x="868680" y="3246120"/>
            <a:ext cx="2880360" cy="685800"/>
          </a:xfrm>
          <a:prstGeom prst="rect">
            <a:avLst/>
          </a:prstGeom>
          <a:noFill/>
          <a:ln/>
        </p:spPr>
        <p:txBody>
          <a:bodyPr wrap="square" lIns="0" tIns="0" rIns="0" bIns="0" rtlCol="0" anchor="t"/>
          <a:lstStyle/>
          <a:p>
            <a:pPr indent="0" marL="0">
              <a:buNone/>
            </a:pPr>
            <a:r>
              <a:rPr lang="en-US" sz="1800" b="1" dirty="0">
                <a:solidFill>
                  <a:schemeClr val="tx2"/>
                </a:solidFill>
              </a:rPr>
              <a:t>Hard-coded account IDs and ARNs</a:t>
            </a:r>
            <a:endParaRPr lang="en-US" sz="1800" dirty="0"/>
          </a:p>
        </p:txBody>
      </p:sp>
      <p:sp>
        <p:nvSpPr>
          <p:cNvPr id="9" name="Feedback 1 now label"/>
          <p:cNvSpPr txBox="1"/>
          <p:nvPr/>
        </p:nvSpPr>
        <p:spPr>
          <a:xfrm>
            <a:off x="868680" y="3977640"/>
            <a:ext cx="288036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NOW</a:t>
            </a:r>
            <a:endParaRPr lang="en-US" sz="1200" dirty="0"/>
          </a:p>
        </p:txBody>
      </p:sp>
      <p:sp>
        <p:nvSpPr>
          <p:cNvPr id="10" name="Feedback 1 fix"/>
          <p:cNvSpPr txBox="1"/>
          <p:nvPr/>
        </p:nvSpPr>
        <p:spPr>
          <a:xfrm>
            <a:off x="868680" y="4251960"/>
            <a:ext cx="2880360" cy="1143000"/>
          </a:xfrm>
          <a:prstGeom prst="rect">
            <a:avLst/>
          </a:prstGeom>
          <a:noFill/>
          <a:ln/>
        </p:spPr>
        <p:txBody>
          <a:bodyPr wrap="square" lIns="0" tIns="0" rIns="0" bIns="0" rtlCol="0" anchor="t"/>
          <a:lstStyle/>
          <a:p>
            <a:pPr indent="0" marL="0">
              <a:buNone/>
            </a:pPr>
            <a:r>
              <a:rPr lang="en-US" sz="1400" dirty="0">
                <a:solidFill>
                  <a:schemeClr val="tx1"/>
                </a:solidFill>
              </a:rPr>
              <a:t>Policy JSONs removed; IRSA roles built by Terraform; account ID resolved at runtime; secrets only in Jenkins credentials</a:t>
            </a:r>
            <a:endParaRPr lang="en-US" sz="1400" dirty="0"/>
          </a:p>
        </p:txBody>
      </p:sp>
      <p:sp>
        <p:nvSpPr>
          <p:cNvPr id="11" name="Feedback card 2"/>
          <p:cNvSpPr/>
          <p:nvPr/>
        </p:nvSpPr>
        <p:spPr>
          <a:xfrm>
            <a:off x="4297680" y="1783080"/>
            <a:ext cx="3520440" cy="3703320"/>
          </a:xfrm>
          <a:prstGeom prst="roundRect">
            <a:avLst>
              <a:gd name="adj" fmla="val 3117"/>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12" name="Feedback 2 circle"/>
          <p:cNvSpPr/>
          <p:nvPr/>
        </p:nvSpPr>
        <p:spPr>
          <a:xfrm>
            <a:off x="4617720" y="2103120"/>
            <a:ext cx="685800" cy="685800"/>
          </a:xfrm>
          <a:prstGeom prst="ellipse">
            <a:avLst/>
          </a:prstGeom>
          <a:solidFill>
            <a:schemeClr val="accent2"/>
          </a:solidFill>
          <a:ln w="12700">
            <a:solidFill>
              <a:schemeClr val="accent2"/>
            </a:solidFill>
            <a:prstDash val="solid"/>
          </a:ln>
        </p:spPr>
      </p:sp>
      <p:pic>
        <p:nvPicPr>
          <p:cNvPr id="13" name="Feedback 2 icon" descr="preencoded.png">    </p:cNvPr>
          <p:cNvPicPr>
            <a:picLocks noChangeAspect="1"/>
          </p:cNvPicPr>
          <p:nvPr/>
        </p:nvPicPr>
        <p:blipFill>
          <a:blip r:embed="rId2"/>
          <a:stretch>
            <a:fillRect/>
          </a:stretch>
        </p:blipFill>
        <p:spPr>
          <a:xfrm>
            <a:off x="4782312" y="2267712"/>
            <a:ext cx="356616" cy="356616"/>
          </a:xfrm>
          <a:prstGeom prst="rect">
            <a:avLst/>
          </a:prstGeom>
        </p:spPr>
      </p:pic>
      <p:sp>
        <p:nvSpPr>
          <p:cNvPr id="14" name="Feedback 2 label"/>
          <p:cNvSpPr txBox="1"/>
          <p:nvPr/>
        </p:nvSpPr>
        <p:spPr>
          <a:xfrm>
            <a:off x="4617720" y="2971800"/>
            <a:ext cx="28803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FEEDBACK</a:t>
            </a:r>
            <a:endParaRPr lang="en-US" sz="1200" dirty="0"/>
          </a:p>
        </p:txBody>
      </p:sp>
      <p:sp>
        <p:nvSpPr>
          <p:cNvPr id="15" name="Feedback 2 finding"/>
          <p:cNvSpPr txBox="1"/>
          <p:nvPr/>
        </p:nvSpPr>
        <p:spPr>
          <a:xfrm>
            <a:off x="4617720" y="3246120"/>
            <a:ext cx="2880360" cy="685800"/>
          </a:xfrm>
          <a:prstGeom prst="rect">
            <a:avLst/>
          </a:prstGeom>
          <a:noFill/>
          <a:ln/>
        </p:spPr>
        <p:txBody>
          <a:bodyPr wrap="square" lIns="0" tIns="0" rIns="0" bIns="0" rtlCol="0" anchor="t"/>
          <a:lstStyle/>
          <a:p>
            <a:pPr indent="0" marL="0">
              <a:buNone/>
            </a:pPr>
            <a:r>
              <a:rPr lang="en-US" sz="1800" b="1" dirty="0">
                <a:solidFill>
                  <a:schemeClr val="tx2"/>
                </a:solidFill>
              </a:rPr>
              <a:t>SSH CIDR defaulting to 0.0.0.0/0</a:t>
            </a:r>
            <a:endParaRPr lang="en-US" sz="1800" dirty="0"/>
          </a:p>
        </p:txBody>
      </p:sp>
      <p:sp>
        <p:nvSpPr>
          <p:cNvPr id="16" name="Feedback 2 now label"/>
          <p:cNvSpPr txBox="1"/>
          <p:nvPr/>
        </p:nvSpPr>
        <p:spPr>
          <a:xfrm>
            <a:off x="4617720" y="3977640"/>
            <a:ext cx="288036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NOW</a:t>
            </a:r>
            <a:endParaRPr lang="en-US" sz="1200" dirty="0"/>
          </a:p>
        </p:txBody>
      </p:sp>
      <p:sp>
        <p:nvSpPr>
          <p:cNvPr id="17" name="Feedback 2 fix"/>
          <p:cNvSpPr txBox="1"/>
          <p:nvPr/>
        </p:nvSpPr>
        <p:spPr>
          <a:xfrm>
            <a:off x="4617720" y="4251960"/>
            <a:ext cx="2880360" cy="1143000"/>
          </a:xfrm>
          <a:prstGeom prst="rect">
            <a:avLst/>
          </a:prstGeom>
          <a:noFill/>
          <a:ln/>
        </p:spPr>
        <p:txBody>
          <a:bodyPr wrap="square" lIns="0" tIns="0" rIns="0" bIns="0" rtlCol="0" anchor="t"/>
          <a:lstStyle/>
          <a:p>
            <a:pPr indent="0" marL="0">
              <a:buNone/>
            </a:pPr>
            <a:r>
              <a:rPr lang="en-US" sz="1400" dirty="0">
                <a:solidFill>
                  <a:schemeClr val="tx1"/>
                </a:solidFill>
              </a:rPr>
              <a:t>admin_cidr has no default and must be a single /32; the EKS public API endpoint is limited to it too</a:t>
            </a:r>
            <a:endParaRPr lang="en-US" sz="1400" dirty="0"/>
          </a:p>
        </p:txBody>
      </p:sp>
      <p:sp>
        <p:nvSpPr>
          <p:cNvPr id="18" name="Feedback card 3"/>
          <p:cNvSpPr/>
          <p:nvPr/>
        </p:nvSpPr>
        <p:spPr>
          <a:xfrm>
            <a:off x="8046720" y="1783080"/>
            <a:ext cx="3520440" cy="3703320"/>
          </a:xfrm>
          <a:prstGeom prst="roundRect">
            <a:avLst>
              <a:gd name="adj" fmla="val 3117"/>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19" name="Feedback 3 circle"/>
          <p:cNvSpPr/>
          <p:nvPr/>
        </p:nvSpPr>
        <p:spPr>
          <a:xfrm>
            <a:off x="8366760" y="2103120"/>
            <a:ext cx="685800" cy="685800"/>
          </a:xfrm>
          <a:prstGeom prst="ellipse">
            <a:avLst/>
          </a:prstGeom>
          <a:solidFill>
            <a:schemeClr val="accent2"/>
          </a:solidFill>
          <a:ln w="12700">
            <a:solidFill>
              <a:schemeClr val="accent2"/>
            </a:solidFill>
            <a:prstDash val="solid"/>
          </a:ln>
        </p:spPr>
      </p:sp>
      <p:pic>
        <p:nvPicPr>
          <p:cNvPr id="20" name="Feedback 3 icon" descr="preencoded.png">    </p:cNvPr>
          <p:cNvPicPr>
            <a:picLocks noChangeAspect="1"/>
          </p:cNvPicPr>
          <p:nvPr/>
        </p:nvPicPr>
        <p:blipFill>
          <a:blip r:embed="rId3"/>
          <a:stretch>
            <a:fillRect/>
          </a:stretch>
        </p:blipFill>
        <p:spPr>
          <a:xfrm>
            <a:off x="8531352" y="2267712"/>
            <a:ext cx="356616" cy="356616"/>
          </a:xfrm>
          <a:prstGeom prst="rect">
            <a:avLst/>
          </a:prstGeom>
        </p:spPr>
      </p:pic>
      <p:sp>
        <p:nvSpPr>
          <p:cNvPr id="21" name="Feedback 3 label"/>
          <p:cNvSpPr txBox="1"/>
          <p:nvPr/>
        </p:nvSpPr>
        <p:spPr>
          <a:xfrm>
            <a:off x="8366760" y="2971800"/>
            <a:ext cx="28803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FEEDBACK</a:t>
            </a:r>
            <a:endParaRPr lang="en-US" sz="1200" dirty="0"/>
          </a:p>
        </p:txBody>
      </p:sp>
      <p:sp>
        <p:nvSpPr>
          <p:cNvPr id="22" name="Feedback 3 finding"/>
          <p:cNvSpPr txBox="1"/>
          <p:nvPr/>
        </p:nvSpPr>
        <p:spPr>
          <a:xfrm>
            <a:off x="8366760" y="3246120"/>
            <a:ext cx="2880360" cy="685800"/>
          </a:xfrm>
          <a:prstGeom prst="rect">
            <a:avLst/>
          </a:prstGeom>
          <a:noFill/>
          <a:ln/>
        </p:spPr>
        <p:txBody>
          <a:bodyPr wrap="square" lIns="0" tIns="0" rIns="0" bIns="0" rtlCol="0" anchor="t"/>
          <a:lstStyle/>
          <a:p>
            <a:pPr indent="0" marL="0">
              <a:buNone/>
            </a:pPr>
            <a:r>
              <a:rPr lang="en-US" sz="1800" b="1" dirty="0">
                <a:solidFill>
                  <a:schemeClr val="tx2"/>
                </a:solidFill>
              </a:rPr>
              <a:t>Image tag defaulting to latest</a:t>
            </a:r>
            <a:endParaRPr lang="en-US" sz="1800" dirty="0"/>
          </a:p>
        </p:txBody>
      </p:sp>
      <p:sp>
        <p:nvSpPr>
          <p:cNvPr id="23" name="Feedback 3 now label"/>
          <p:cNvSpPr txBox="1"/>
          <p:nvPr/>
        </p:nvSpPr>
        <p:spPr>
          <a:xfrm>
            <a:off x="8366760" y="3977640"/>
            <a:ext cx="288036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NOW</a:t>
            </a:r>
            <a:endParaRPr lang="en-US" sz="1200" dirty="0"/>
          </a:p>
        </p:txBody>
      </p:sp>
      <p:sp>
        <p:nvSpPr>
          <p:cNvPr id="24" name="Feedback 3 fix"/>
          <p:cNvSpPr txBox="1"/>
          <p:nvPr/>
        </p:nvSpPr>
        <p:spPr>
          <a:xfrm>
            <a:off x="8366760" y="4251960"/>
            <a:ext cx="2880360" cy="1143000"/>
          </a:xfrm>
          <a:prstGeom prst="rect">
            <a:avLst/>
          </a:prstGeom>
          <a:noFill/>
          <a:ln/>
        </p:spPr>
        <p:txBody>
          <a:bodyPr wrap="square" lIns="0" tIns="0" rIns="0" bIns="0" rtlCol="0" anchor="t"/>
          <a:lstStyle/>
          <a:p>
            <a:pPr indent="0" marL="0">
              <a:buNone/>
            </a:pPr>
            <a:r>
              <a:rPr lang="en-US" sz="1400" dirty="0">
                <a:solidFill>
                  <a:schemeClr val="tx1"/>
                </a:solidFill>
              </a:rPr>
              <a:t>Images tagged only with the git SHA; ECR tags immutable; the chart refuses an empty or latest tag</a:t>
            </a:r>
            <a:endParaRPr lang="en-US" sz="1400" dirty="0"/>
          </a:p>
        </p:txBody>
      </p:sp>
      <p:sp>
        <p:nvSpPr>
          <p:cNvPr id="25" name="Also note"/>
          <p:cNvSpPr txBox="1"/>
          <p:nvPr/>
        </p:nvSpPr>
        <p:spPr>
          <a:xfrm>
            <a:off x="548640" y="5715000"/>
            <a:ext cx="11064240" cy="457200"/>
          </a:xfrm>
          <a:prstGeom prst="rect">
            <a:avLst/>
          </a:prstGeom>
          <a:noFill/>
          <a:ln/>
        </p:spPr>
        <p:txBody>
          <a:bodyPr wrap="square" lIns="0" tIns="0" rIns="0" bIns="0" rtlCol="0" anchor="t"/>
          <a:lstStyle/>
          <a:p>
            <a:pPr indent="0" marL="0">
              <a:buNone/>
            </a:pPr>
            <a:r>
              <a:rPr lang="en-US" sz="1500" b="1" dirty="0">
                <a:solidFill>
                  <a:schemeClr val="tx2"/>
                </a:solidFill>
              </a:rPr>
              <a:t>Also: </a:t>
            </a:r>
            <a:pPr indent="0" marL="0">
              <a:buNone/>
            </a:pPr>
            <a:r>
              <a:rPr lang="en-US" sz="1500" dirty="0">
                <a:solidFill>
                  <a:schemeClr val="tx1"/>
                </a:solidFill>
              </a:rPr>
              <a:t>Jenkins uses an EC2 IAM role (no AWS keys stored), work is done as an IAM user instead of root keys, and cluster admins are listed explicitly</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Every Version Is Pinned</a:t>
            </a:r>
            <a:endParaRPr lang="en-US" sz="34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algn="l" indent="0" marL="0">
              <a:buNone/>
            </a:pPr>
            <a:r>
              <a:rPr lang="en-US" sz="1600" dirty="0">
                <a:solidFill>
                  <a:schemeClr val="accent4"/>
                </a:solidFill>
              </a:rPr>
              <a:t>An apply always installs the same build; upgrades become deliberate changes</a:t>
            </a:r>
            <a:endParaRPr lang="en-US" sz="1600" dirty="0"/>
          </a:p>
        </p:txBody>
      </p:sp>
      <p:graphicFrame>
        <p:nvGraphicFramePr>
          <p:cNvPr id="9" name="Pinned versions table"/>
          <p:cNvGraphicFramePr>
            <a:graphicFrameLocks noGrp="1"/>
          </p:cNvGraphicFramePr>
          <p:nvPr>
            <p:extLst>
              <p:ext uri="{D42A27DB-BD31-4B8C-83A1-F6EECF244321}">
                <p14:modId xmlns:p14="http://schemas.microsoft.com/office/powerpoint/2010/main" val="1579011935"/>
              </p:ext>
            </p:extLst>
          </p:nvPr>
        </p:nvGraphicFramePr>
        <p:xfrm>
          <a:off x="548640" y="1783080"/>
          <a:ext cx="7589520" cy="914400"/>
        </p:xfrm>
        <a:graphic>
          <a:graphicData uri="http://schemas.openxmlformats.org/drawingml/2006/table">
            <a:tbl>
              <a:tblPr/>
              <a:tblGrid>
                <a:gridCol w="3017520"/>
                <a:gridCol w="4572000"/>
              </a:tblGrid>
              <a:tr h="475488">
                <a:tc>
                  <a:txBody>
                    <a:bodyPr/>
                    <a:lstStyle/>
                    <a:p>
                      <a:pPr indent="0" marL="0">
                        <a:buNone/>
                      </a:pPr>
                      <a:r>
                        <a:rPr lang="en-US" sz="1400" b="1" dirty="0">
                          <a:solidFill>
                            <a:schemeClr val="bg1"/>
                          </a:solidFill>
                        </a:rPr>
                        <a:t>Component</a:t>
                      </a:r>
                      <a:endParaRPr lang="en-US" sz="1400" dirty="0"/>
                    </a:p>
                  </a:txBody>
                  <a:tcPr marL="109728" marR="109728" marT="0" marB="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Pinned to</a:t>
                      </a:r>
                      <a:endParaRPr lang="en-US" sz="1400" dirty="0"/>
                    </a:p>
                  </a:txBody>
                  <a:tcPr marL="109728" marR="109728" marT="0" marB="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tx2"/>
                    </a:solidFill>
                  </a:tcPr>
                </a:tc>
              </a:tr>
              <a:tr h="475488">
                <a:tc>
                  <a:txBody>
                    <a:bodyPr/>
                    <a:lstStyle/>
                    <a:p>
                      <a:pPr indent="0" marL="0">
                        <a:buNone/>
                      </a:pPr>
                      <a:r>
                        <a:rPr lang="en-US" sz="1400" dirty="0">
                          <a:solidFill>
                            <a:schemeClr val="tx1"/>
                          </a:solidFill>
                        </a:rPr>
                        <a:t>Terraform (laptop and Jenkins)</a:t>
                      </a:r>
                      <a:endParaRPr lang="en-US" sz="1400" dirty="0"/>
                    </a:p>
                  </a:txBody>
                  <a:tcPr marL="109728" marR="109728" marT="0" marB="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1.15.7</a:t>
                      </a:r>
                      <a:endParaRPr lang="en-US" sz="1400" dirty="0"/>
                    </a:p>
                  </a:txBody>
                  <a:tcPr marL="109728" marR="109728" marT="0" marB="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EKS control plane</a:t>
                      </a:r>
                      <a:endParaRPr lang="en-US" sz="1400" dirty="0"/>
                    </a:p>
                  </a:txBody>
                  <a:tcPr marL="109728" marR="109728" marT="0" marB="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1.35, standard support to Mar 2027</a:t>
                      </a:r>
                      <a:endParaRPr lang="en-US" sz="1400" dirty="0"/>
                    </a:p>
                  </a:txBody>
                  <a:tcPr marL="109728" marR="109728" marT="0" marB="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EKS add-ons</a:t>
                      </a:r>
                      <a:endParaRPr lang="en-US" sz="1400" dirty="0"/>
                    </a:p>
                  </a:txBody>
                  <a:tcPr marL="109728" marR="109728" marT="0" marB="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CoreDNS, kube-proxy, VPC CNI, EBS CSI: exact eksbuild versions</a:t>
                      </a:r>
                      <a:endParaRPr lang="en-US" sz="1400" dirty="0"/>
                    </a:p>
                  </a:txBody>
                  <a:tcPr marL="109728" marR="109728" marT="0" marB="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Jenkins AMI and node AMI type</a:t>
                      </a:r>
                      <a:endParaRPr lang="en-US" sz="1400" dirty="0"/>
                    </a:p>
                  </a:txBody>
                  <a:tcPr marL="109728" marR="109728" marT="0" marB="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Fixed Ubuntu 22.04 AMI ID; AL2023 nodes</a:t>
                      </a:r>
                      <a:endParaRPr lang="en-US" sz="1400" dirty="0"/>
                    </a:p>
                  </a:txBody>
                  <a:tcPr marL="109728" marR="109728" marT="0" marB="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Helm charts</a:t>
                      </a:r>
                      <a:endParaRPr lang="en-US" sz="1400" dirty="0"/>
                    </a:p>
                  </a:txBody>
                  <a:tcPr marL="109728" marR="109728" marT="0" marB="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metrics-server 3.14.0, LB controller 1.17.1</a:t>
                      </a:r>
                      <a:endParaRPr lang="en-US" sz="1400" dirty="0"/>
                    </a:p>
                  </a:txBody>
                  <a:tcPr marL="109728" marR="109728" marT="0" marB="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Tools on Jenkins</a:t>
                      </a:r>
                      <a:endParaRPr lang="en-US" sz="1400" dirty="0"/>
                    </a:p>
                  </a:txBody>
                  <a:tcPr marL="109728" marR="109728" marT="0" marB="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kubectl v1.35.0, Helm v3.16.4, Ansible 10.7.0, Node 20</a:t>
                      </a:r>
                      <a:endParaRPr lang="en-US" sz="1400" dirty="0"/>
                    </a:p>
                  </a:txBody>
                  <a:tcPr marL="109728" marR="109728" marT="0" marB="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r>
              <a:tr h="475488">
                <a:tc>
                  <a:txBody>
                    <a:bodyPr/>
                    <a:lstStyle/>
                    <a:p>
                      <a:pPr indent="0" marL="0">
                        <a:buNone/>
                      </a:pPr>
                      <a:r>
                        <a:rPr lang="en-US" sz="1400" dirty="0">
                          <a:solidFill>
                            <a:schemeClr val="tx1"/>
                          </a:solidFill>
                        </a:rPr>
                        <a:t>Application images</a:t>
                      </a:r>
                      <a:endParaRPr lang="en-US" sz="1400" dirty="0"/>
                    </a:p>
                  </a:txBody>
                  <a:tcPr marL="109728" marR="109728" marT="0" marB="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git SHA tag, immutable in ECR</a:t>
                      </a:r>
                      <a:endParaRPr lang="en-US" sz="1400" dirty="0"/>
                    </a:p>
                  </a:txBody>
                  <a:tcPr marL="109728" marR="109728" marT="0" marB="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r>
            </a:tbl>
          </a:graphicData>
        </a:graphic>
      </p:graphicFrame>
      <p:sp>
        <p:nvSpPr>
          <p:cNvPr id="5" name="Why card"/>
          <p:cNvSpPr/>
          <p:nvPr/>
        </p:nvSpPr>
        <p:spPr>
          <a:xfrm>
            <a:off x="8458200" y="1783080"/>
            <a:ext cx="3154680" cy="3794760"/>
          </a:xfrm>
          <a:prstGeom prst="roundRect">
            <a:avLst>
              <a:gd name="adj" fmla="val 3478"/>
            </a:avLst>
          </a:prstGeom>
          <a:solidFill>
            <a:schemeClr val="tx2"/>
          </a:solidFill>
          <a:ln w="12700">
            <a:solidFill>
              <a:schemeClr val="tx2"/>
            </a:solidFill>
            <a:prstDash val="solid"/>
          </a:ln>
          <a:effectLst>
            <a:outerShdw sx="100000" sy="100000" kx="0" ky="0" algn="bl" rotWithShape="0" blurRad="76200" dist="25400" dir="5400000">
              <a:srgbClr val="94A3B8">
                <a:alpha val="25000"/>
              </a:srgbClr>
            </a:outerShdw>
          </a:effectLst>
        </p:spPr>
      </p:sp>
      <p:sp>
        <p:nvSpPr>
          <p:cNvPr id="6" name="Why circle"/>
          <p:cNvSpPr/>
          <p:nvPr/>
        </p:nvSpPr>
        <p:spPr>
          <a:xfrm>
            <a:off x="8778240" y="2103120"/>
            <a:ext cx="685800" cy="685800"/>
          </a:xfrm>
          <a:prstGeom prst="ellipse">
            <a:avLst/>
          </a:prstGeom>
          <a:solidFill>
            <a:schemeClr val="accent1"/>
          </a:solidFill>
          <a:ln w="12700">
            <a:solidFill>
              <a:schemeClr val="accent1"/>
            </a:solidFill>
            <a:prstDash val="solid"/>
          </a:ln>
        </p:spPr>
      </p:sp>
      <p:pic>
        <p:nvPicPr>
          <p:cNvPr id="7" name="Why icon" descr="preencoded.png">    </p:cNvPr>
          <p:cNvPicPr>
            <a:picLocks noChangeAspect="1"/>
          </p:cNvPicPr>
          <p:nvPr/>
        </p:nvPicPr>
        <p:blipFill>
          <a:blip r:embed="rId1"/>
          <a:stretch>
            <a:fillRect/>
          </a:stretch>
        </p:blipFill>
        <p:spPr>
          <a:xfrm>
            <a:off x="8942832" y="2267712"/>
            <a:ext cx="356616" cy="356616"/>
          </a:xfrm>
          <a:prstGeom prst="rect">
            <a:avLst/>
          </a:prstGeom>
        </p:spPr>
      </p:pic>
      <p:sp>
        <p:nvSpPr>
          <p:cNvPr id="8" name="Why title"/>
          <p:cNvSpPr txBox="1"/>
          <p:nvPr/>
        </p:nvSpPr>
        <p:spPr>
          <a:xfrm>
            <a:off x="8778240" y="2971800"/>
            <a:ext cx="2560320" cy="411480"/>
          </a:xfrm>
          <a:prstGeom prst="rect">
            <a:avLst/>
          </a:prstGeom>
          <a:noFill/>
          <a:ln/>
        </p:spPr>
        <p:txBody>
          <a:bodyPr wrap="square" lIns="0" tIns="0" rIns="0" bIns="0" rtlCol="0" anchor="t"/>
          <a:lstStyle/>
          <a:p>
            <a:pPr indent="0" marL="0">
              <a:buNone/>
            </a:pPr>
            <a:r>
              <a:rPr lang="en-US" sz="2000" b="1" dirty="0">
                <a:solidFill>
                  <a:schemeClr val="bg1"/>
                </a:solidFill>
              </a:rPr>
              <a:t>Why it matters</a:t>
            </a:r>
            <a:endParaRPr lang="en-US" sz="2000" dirty="0"/>
          </a:p>
        </p:txBody>
      </p:sp>
      <p:sp>
        <p:nvSpPr>
          <p:cNvPr id="9" name="Why text"/>
          <p:cNvSpPr txBox="1"/>
          <p:nvPr/>
        </p:nvSpPr>
        <p:spPr>
          <a:xfrm>
            <a:off x="8778240" y="3429000"/>
            <a:ext cx="2560320" cy="2011680"/>
          </a:xfrm>
          <a:prstGeom prst="rect">
            <a:avLst/>
          </a:prstGeom>
          <a:noFill/>
          <a:ln/>
        </p:spPr>
        <p:txBody>
          <a:bodyPr wrap="square" lIns="0" tIns="0" rIns="0" bIns="0" rtlCol="0" anchor="t"/>
          <a:lstStyle/>
          <a:p>
            <a:pPr indent="0" marL="0">
              <a:buNone/>
            </a:pPr>
            <a:r>
              <a:rPr lang="en-US" sz="1400" dirty="0">
                <a:solidFill>
                  <a:schemeClr val="accent6"/>
                </a:solidFill>
              </a:rPr>
              <a:t>The laptop and Jenkins share one Terraform state, so they must agree on versions. Pinning also means a rebuild produces the same cluster that was tested.</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Issues Resolved: Account and Infrastructure</a:t>
            </a:r>
            <a:endParaRPr lang="en-US" sz="34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algn="l" indent="0" marL="0">
              <a:buNone/>
            </a:pPr>
            <a:r>
              <a:rPr lang="en-US" sz="1600" dirty="0">
                <a:solidFill>
                  <a:schemeClr val="accent4"/>
                </a:solidFill>
              </a:rPr>
              <a:t>Found while provisioning a fresh environment on the AWS Free plan</a:t>
            </a:r>
            <a:endParaRPr lang="en-US" sz="1600" dirty="0"/>
          </a:p>
        </p:txBody>
      </p:sp>
      <p:graphicFrame>
        <p:nvGraphicFramePr>
          <p:cNvPr id="10" name="Issues Resolved: Account and Infrastructure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108960"/>
                <a:gridCol w="3840480"/>
                <a:gridCol w="4114800"/>
              </a:tblGrid>
              <a:tr h="731520">
                <a:tc>
                  <a:txBody>
                    <a:bodyPr/>
                    <a:lstStyle/>
                    <a:p>
                      <a:pPr indent="0" marL="0">
                        <a:buNone/>
                      </a:pPr>
                      <a:r>
                        <a:rPr lang="en-US" sz="1400" b="1" dirty="0">
                          <a:solidFill>
                            <a:schemeClr val="bg1"/>
                          </a:solidFill>
                        </a:rPr>
                        <a:t>Symptom</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Root cause</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Fix</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tx2"/>
                    </a:solidFill>
                  </a:tcPr>
                </a:tc>
              </a:tr>
              <a:tr h="731520">
                <a:tc>
                  <a:txBody>
                    <a:bodyPr/>
                    <a:lstStyle/>
                    <a:p>
                      <a:pPr indent="0" marL="0">
                        <a:buNone/>
                      </a:pPr>
                      <a:r>
                        <a:rPr lang="en-US" sz="1400" b="1" dirty="0">
                          <a:solidFill>
                            <a:schemeClr val="tx2"/>
                          </a:solidFill>
                        </a:rPr>
                        <a:t>t3.medium rejected</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Free plan allows Free Tier instance types only</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Jenkins on c7i-flex.large: same 2 vCPU / 4 GB</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r>
              <a:tr h="731520">
                <a:tc>
                  <a:txBody>
                    <a:bodyPr/>
                    <a:lstStyle/>
                    <a:p>
                      <a:pPr indent="0" marL="0">
                        <a:buNone/>
                      </a:pPr>
                      <a:r>
                        <a:rPr lang="en-US" sz="1400" b="1" dirty="0">
                          <a:solidFill>
                            <a:schemeClr val="tx2"/>
                          </a:solidFill>
                        </a:rPr>
                        <a:t>Log group already exists</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Left over from an earlier, deleted cluster</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Deleted the empty log group and re-applied</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r>
              <a:tr h="731520">
                <a:tc>
                  <a:txBody>
                    <a:bodyPr/>
                    <a:lstStyle/>
                    <a:p>
                      <a:pPr indent="0" marL="0">
                        <a:buNone/>
                      </a:pPr>
                      <a:r>
                        <a:rPr lang="en-US" sz="1400" b="1" dirty="0">
                          <a:solidFill>
                            <a:schemeClr val="tx2"/>
                          </a:solidFill>
                        </a:rPr>
                        <a:t>EKS 1.33 in extended support</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Control plane costs 6× in extended support</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Moved to EKS 1.35 with matching add-ons</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r>
              <a:tr h="731520">
                <a:tc>
                  <a:txBody>
                    <a:bodyPr/>
                    <a:lstStyle/>
                    <a:p>
                      <a:pPr indent="0" marL="0">
                        <a:buNone/>
                      </a:pPr>
                      <a:r>
                        <a:rPr lang="en-US" sz="1400" b="1" dirty="0">
                          <a:solidFill>
                            <a:schemeClr val="tx2"/>
                          </a:solidFill>
                        </a:rPr>
                        <a:t>Jenkins plan replaced admin access</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Creator-admin follows whoever runs Terraform</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Explicit admins; moved blocks, 0 to destroy</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r>
              <a:tr h="731520">
                <a:tc>
                  <a:txBody>
                    <a:bodyPr/>
                    <a:lstStyle/>
                    <a:p>
                      <a:pPr indent="0" marL="0">
                        <a:buNone/>
                      </a:pPr>
                      <a:r>
                        <a:rPr lang="en-US" sz="1400" b="1" dirty="0">
                          <a:solidFill>
                            <a:schemeClr val="tx2"/>
                          </a:solidFill>
                        </a:rPr>
                        <a:t>kubectl blocked on Windows</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Smart App Control blocks unsigned binaries</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Use Docker Desktop's signed kubectl</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Issues Resolved: Pipeline and Cluster</a:t>
            </a:r>
            <a:endParaRPr lang="en-US" sz="34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algn="l" indent="0" marL="0">
              <a:buNone/>
            </a:pPr>
            <a:r>
              <a:rPr lang="en-US" sz="1600" dirty="0">
                <a:solidFill>
                  <a:schemeClr val="accent4"/>
                </a:solidFill>
              </a:rPr>
              <a:t>Each failed build was diagnosed from its log and fixed in code</a:t>
            </a:r>
            <a:endParaRPr lang="en-US" sz="1600" dirty="0"/>
          </a:p>
        </p:txBody>
      </p:sp>
      <p:graphicFrame>
        <p:nvGraphicFramePr>
          <p:cNvPr id="11" name="Issues Resolved: Pipeline and Cluster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108960"/>
                <a:gridCol w="3840480"/>
                <a:gridCol w="4114800"/>
              </a:tblGrid>
              <a:tr h="731520">
                <a:tc>
                  <a:txBody>
                    <a:bodyPr/>
                    <a:lstStyle/>
                    <a:p>
                      <a:pPr indent="0" marL="0">
                        <a:buNone/>
                      </a:pPr>
                      <a:r>
                        <a:rPr lang="en-US" sz="1400" b="1" dirty="0">
                          <a:solidFill>
                            <a:schemeClr val="bg1"/>
                          </a:solidFill>
                        </a:rPr>
                        <a:t>Symptom</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Root cause</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Fix</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tx2"/>
                    </a:solidFill>
                  </a:tcPr>
                </a:tc>
              </a:tr>
              <a:tr h="731520">
                <a:tc>
                  <a:txBody>
                    <a:bodyPr/>
                    <a:lstStyle/>
                    <a:p>
                      <a:pPr indent="0" marL="0">
                        <a:buNone/>
                      </a:pPr>
                      <a:r>
                        <a:rPr lang="en-US" sz="1400" b="1" dirty="0">
                          <a:solidFill>
                            <a:schemeClr val="tx2"/>
                          </a:solidFill>
                        </a:rPr>
                        <a:t>bcrypt failed to build in Docker</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Prebuilt download blocked; no compiler on Alpine</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Multi-stage Dockerfile with build tools</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r>
              <a:tr h="731520">
                <a:tc>
                  <a:txBody>
                    <a:bodyPr/>
                    <a:lstStyle/>
                    <a:p>
                      <a:pPr indent="0" marL="0">
                        <a:buNone/>
                      </a:pPr>
                      <a:r>
                        <a:rPr lang="en-US" sz="1400" b="1" dirty="0">
                          <a:solidFill>
                            <a:schemeClr val="tx2"/>
                          </a:solidFill>
                        </a:rPr>
                        <a:t>Jenkinsfile.infra not found</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Jobs read Develop; changes were on Sprint-3</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Jobs and deploy condition on Sprint-3</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r>
              <a:tr h="731520">
                <a:tc>
                  <a:txBody>
                    <a:bodyPr/>
                    <a:lstStyle/>
                    <a:p>
                      <a:pPr indent="0" marL="0">
                        <a:buNone/>
                      </a:pPr>
                      <a:r>
                        <a:rPr lang="en-US" sz="1400" b="1" dirty="0">
                          <a:solidFill>
                            <a:schemeClr val="tx2"/>
                          </a:solidFill>
                        </a:rPr>
                        <a:t>Deploy timed out, MongoDB Pending</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EKS 1.30+ has no default StorageClass</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Default encrypted gp3 StorageClass via Ansible</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r>
              <a:tr h="731520">
                <a:tc>
                  <a:txBody>
                    <a:bodyPr/>
                    <a:lstStyle/>
                    <a:p>
                      <a:pPr indent="0" marL="0">
                        <a:buNone/>
                      </a:pPr>
                      <a:r>
                        <a:rPr lang="en-US" sz="1400" b="1" dirty="0">
                          <a:solidFill>
                            <a:schemeClr val="tx2"/>
                          </a:solidFill>
                        </a:rPr>
                        <a:t>Pods: Too many pods, no memory</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 × t3.small full with cluster add-ons</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 Spot nodes; services start at 1 replica</a:t>
                      </a:r>
                      <a:endParaRPr lang="en-US" sz="1400" dirty="0"/>
                    </a:p>
                  </a:txBody>
                  <a:tcPr marL="109728" marR="109728" marT="45720" marB="45720"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Verified End to End</a:t>
            </a:r>
            <a:endParaRPr lang="en-US" sz="34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algn="l" indent="0" marL="0">
              <a:buNone/>
            </a:pPr>
            <a:r>
              <a:rPr lang="en-US" sz="1600" dirty="0">
                <a:solidFill>
                  <a:schemeClr val="accent4"/>
                </a:solidFill>
              </a:rPr>
              <a:t>Evidence captured in the Sprint 3 progress document</a:t>
            </a:r>
            <a:endParaRPr lang="en-US" sz="1600" dirty="0"/>
          </a:p>
        </p:txBody>
      </p:sp>
      <p:sp>
        <p:nvSpPr>
          <p:cNvPr id="4" name="Check card 1"/>
          <p:cNvSpPr/>
          <p:nvPr/>
        </p:nvSpPr>
        <p:spPr>
          <a:xfrm>
            <a:off x="548640" y="1783080"/>
            <a:ext cx="5440680" cy="1234440"/>
          </a:xfrm>
          <a:prstGeom prst="roundRect">
            <a:avLst>
              <a:gd name="adj" fmla="val 8889"/>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5" name="Check 1 circle"/>
          <p:cNvSpPr/>
          <p:nvPr/>
        </p:nvSpPr>
        <p:spPr>
          <a:xfrm>
            <a:off x="822960" y="2057400"/>
            <a:ext cx="640080" cy="640080"/>
          </a:xfrm>
          <a:prstGeom prst="ellipse">
            <a:avLst/>
          </a:prstGeom>
          <a:solidFill>
            <a:schemeClr val="accent5"/>
          </a:solidFill>
          <a:ln w="12700">
            <a:solidFill>
              <a:schemeClr val="accent5"/>
            </a:solidFill>
            <a:prstDash val="solid"/>
          </a:ln>
        </p:spPr>
      </p:sp>
      <p:pic>
        <p:nvPicPr>
          <p:cNvPr id="6" name="Check 1 icon" descr="preencoded.png">    </p:cNvPr>
          <p:cNvPicPr>
            <a:picLocks noChangeAspect="1"/>
          </p:cNvPicPr>
          <p:nvPr/>
        </p:nvPicPr>
        <p:blipFill>
          <a:blip r:embed="rId1"/>
          <a:stretch>
            <a:fillRect/>
          </a:stretch>
        </p:blipFill>
        <p:spPr>
          <a:xfrm>
            <a:off x="976579" y="2211019"/>
            <a:ext cx="332842" cy="332842"/>
          </a:xfrm>
          <a:prstGeom prst="rect">
            <a:avLst/>
          </a:prstGeom>
        </p:spPr>
      </p:pic>
      <p:sp>
        <p:nvSpPr>
          <p:cNvPr id="7" name="Check 1 title"/>
          <p:cNvSpPr txBox="1"/>
          <p:nvPr/>
        </p:nvSpPr>
        <p:spPr>
          <a:xfrm>
            <a:off x="1691640" y="2011680"/>
            <a:ext cx="4069080" cy="411480"/>
          </a:xfrm>
          <a:prstGeom prst="rect">
            <a:avLst/>
          </a:prstGeom>
          <a:noFill/>
          <a:ln/>
        </p:spPr>
        <p:txBody>
          <a:bodyPr wrap="square" lIns="0" tIns="0" rIns="0" bIns="0" rtlCol="0" anchor="t"/>
          <a:lstStyle/>
          <a:p>
            <a:pPr indent="0" marL="0">
              <a:buNone/>
            </a:pPr>
            <a:r>
              <a:rPr lang="en-US" sz="1800" b="1" dirty="0">
                <a:solidFill>
                  <a:schemeClr val="tx2"/>
                </a:solidFill>
              </a:rPr>
              <a:t>Reproducible infrastructure</a:t>
            </a:r>
            <a:endParaRPr lang="en-US" sz="1800" dirty="0"/>
          </a:p>
        </p:txBody>
      </p:sp>
      <p:sp>
        <p:nvSpPr>
          <p:cNvPr id="8" name="Check 1 detail"/>
          <p:cNvSpPr txBox="1"/>
          <p:nvPr/>
        </p:nvSpPr>
        <p:spPr>
          <a:xfrm>
            <a:off x="1691640" y="2441448"/>
            <a:ext cx="4069080" cy="411480"/>
          </a:xfrm>
          <a:prstGeom prst="rect">
            <a:avLst/>
          </a:prstGeom>
          <a:noFill/>
          <a:ln/>
        </p:spPr>
        <p:txBody>
          <a:bodyPr wrap="square" lIns="0" tIns="0" rIns="0" bIns="0" rtlCol="0" anchor="t"/>
          <a:lstStyle/>
          <a:p>
            <a:pPr indent="0" marL="0">
              <a:buNone/>
            </a:pPr>
            <a:r>
              <a:rPr lang="en-US" sz="1400" dirty="0">
                <a:solidFill>
                  <a:schemeClr val="tx1"/>
                </a:solidFill>
              </a:rPr>
              <a:t>Jenkins and the laptop share one S3 state</a:t>
            </a:r>
            <a:endParaRPr lang="en-US" sz="1400" dirty="0"/>
          </a:p>
        </p:txBody>
      </p:sp>
      <p:sp>
        <p:nvSpPr>
          <p:cNvPr id="9" name="Check card 2"/>
          <p:cNvSpPr/>
          <p:nvPr/>
        </p:nvSpPr>
        <p:spPr>
          <a:xfrm>
            <a:off x="6172200" y="1783080"/>
            <a:ext cx="5440680" cy="1234440"/>
          </a:xfrm>
          <a:prstGeom prst="roundRect">
            <a:avLst>
              <a:gd name="adj" fmla="val 8889"/>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10" name="Check 2 circle"/>
          <p:cNvSpPr/>
          <p:nvPr/>
        </p:nvSpPr>
        <p:spPr>
          <a:xfrm>
            <a:off x="6446520" y="2057400"/>
            <a:ext cx="640080" cy="640080"/>
          </a:xfrm>
          <a:prstGeom prst="ellipse">
            <a:avLst/>
          </a:prstGeom>
          <a:solidFill>
            <a:schemeClr val="accent5"/>
          </a:solidFill>
          <a:ln w="12700">
            <a:solidFill>
              <a:schemeClr val="accent5"/>
            </a:solidFill>
            <a:prstDash val="solid"/>
          </a:ln>
        </p:spPr>
      </p:sp>
      <p:pic>
        <p:nvPicPr>
          <p:cNvPr id="11" name="Check 2 icon" descr="preencoded.png">    </p:cNvPr>
          <p:cNvPicPr>
            <a:picLocks noChangeAspect="1"/>
          </p:cNvPicPr>
          <p:nvPr/>
        </p:nvPicPr>
        <p:blipFill>
          <a:blip r:embed="rId2"/>
          <a:stretch>
            <a:fillRect/>
          </a:stretch>
        </p:blipFill>
        <p:spPr>
          <a:xfrm>
            <a:off x="6600139" y="2211019"/>
            <a:ext cx="332842" cy="332842"/>
          </a:xfrm>
          <a:prstGeom prst="rect">
            <a:avLst/>
          </a:prstGeom>
        </p:spPr>
      </p:pic>
      <p:sp>
        <p:nvSpPr>
          <p:cNvPr id="12" name="Check 2 title"/>
          <p:cNvSpPr txBox="1"/>
          <p:nvPr/>
        </p:nvSpPr>
        <p:spPr>
          <a:xfrm>
            <a:off x="7315200" y="2011680"/>
            <a:ext cx="4069080" cy="411480"/>
          </a:xfrm>
          <a:prstGeom prst="rect">
            <a:avLst/>
          </a:prstGeom>
          <a:noFill/>
          <a:ln/>
        </p:spPr>
        <p:txBody>
          <a:bodyPr wrap="square" lIns="0" tIns="0" rIns="0" bIns="0" rtlCol="0" anchor="t"/>
          <a:lstStyle/>
          <a:p>
            <a:pPr indent="0" marL="0">
              <a:buNone/>
            </a:pPr>
            <a:r>
              <a:rPr lang="en-US" sz="1800" b="1" dirty="0">
                <a:solidFill>
                  <a:schemeClr val="tx2"/>
                </a:solidFill>
              </a:rPr>
              <a:t>Ansible after Terraform</a:t>
            </a:r>
            <a:endParaRPr lang="en-US" sz="1800" dirty="0"/>
          </a:p>
        </p:txBody>
      </p:sp>
      <p:sp>
        <p:nvSpPr>
          <p:cNvPr id="13" name="Check 2 detail"/>
          <p:cNvSpPr txBox="1"/>
          <p:nvPr/>
        </p:nvSpPr>
        <p:spPr>
          <a:xfrm>
            <a:off x="7315200" y="2441448"/>
            <a:ext cx="4069080" cy="411480"/>
          </a:xfrm>
          <a:prstGeom prst="rect">
            <a:avLst/>
          </a:prstGeom>
          <a:noFill/>
          <a:ln/>
        </p:spPr>
        <p:txBody>
          <a:bodyPr wrap="square" lIns="0" tIns="0" rIns="0" bIns="0" rtlCol="0" anchor="t"/>
          <a:lstStyle/>
          <a:p>
            <a:pPr indent="0" marL="0">
              <a:buNone/>
            </a:pPr>
            <a:r>
              <a:rPr lang="en-US" sz="1400" dirty="0">
                <a:solidFill>
                  <a:schemeClr val="tx1"/>
                </a:solidFill>
              </a:rPr>
              <a:t>Ansible #1 started by infra #6, failed=0</a:t>
            </a:r>
            <a:endParaRPr lang="en-US" sz="1400" dirty="0"/>
          </a:p>
        </p:txBody>
      </p:sp>
      <p:sp>
        <p:nvSpPr>
          <p:cNvPr id="14" name="Check card 3"/>
          <p:cNvSpPr/>
          <p:nvPr/>
        </p:nvSpPr>
        <p:spPr>
          <a:xfrm>
            <a:off x="548640" y="3200400"/>
            <a:ext cx="5440680" cy="1234440"/>
          </a:xfrm>
          <a:prstGeom prst="roundRect">
            <a:avLst>
              <a:gd name="adj" fmla="val 8889"/>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15" name="Check 3 circle"/>
          <p:cNvSpPr/>
          <p:nvPr/>
        </p:nvSpPr>
        <p:spPr>
          <a:xfrm>
            <a:off x="822960" y="3474720"/>
            <a:ext cx="640080" cy="640080"/>
          </a:xfrm>
          <a:prstGeom prst="ellipse">
            <a:avLst/>
          </a:prstGeom>
          <a:solidFill>
            <a:schemeClr val="accent5"/>
          </a:solidFill>
          <a:ln w="12700">
            <a:solidFill>
              <a:schemeClr val="accent5"/>
            </a:solidFill>
            <a:prstDash val="solid"/>
          </a:ln>
        </p:spPr>
      </p:sp>
      <p:pic>
        <p:nvPicPr>
          <p:cNvPr id="16" name="Check 3 icon" descr="preencoded.png">    </p:cNvPr>
          <p:cNvPicPr>
            <a:picLocks noChangeAspect="1"/>
          </p:cNvPicPr>
          <p:nvPr/>
        </p:nvPicPr>
        <p:blipFill>
          <a:blip r:embed="rId3"/>
          <a:stretch>
            <a:fillRect/>
          </a:stretch>
        </p:blipFill>
        <p:spPr>
          <a:xfrm>
            <a:off x="976579" y="3628339"/>
            <a:ext cx="332842" cy="332842"/>
          </a:xfrm>
          <a:prstGeom prst="rect">
            <a:avLst/>
          </a:prstGeom>
        </p:spPr>
      </p:pic>
      <p:sp>
        <p:nvSpPr>
          <p:cNvPr id="17" name="Check 3 title"/>
          <p:cNvSpPr txBox="1"/>
          <p:nvPr/>
        </p:nvSpPr>
        <p:spPr>
          <a:xfrm>
            <a:off x="1691640" y="3429000"/>
            <a:ext cx="4069080" cy="411480"/>
          </a:xfrm>
          <a:prstGeom prst="rect">
            <a:avLst/>
          </a:prstGeom>
          <a:noFill/>
          <a:ln/>
        </p:spPr>
        <p:txBody>
          <a:bodyPr wrap="square" lIns="0" tIns="0" rIns="0" bIns="0" rtlCol="0" anchor="t"/>
          <a:lstStyle/>
          <a:p>
            <a:pPr indent="0" marL="0">
              <a:buNone/>
            </a:pPr>
            <a:r>
              <a:rPr lang="en-US" sz="1800" b="1" dirty="0">
                <a:solidFill>
                  <a:schemeClr val="tx2"/>
                </a:solidFill>
              </a:rPr>
              <a:t>Push triggers the pipeline</a:t>
            </a:r>
            <a:endParaRPr lang="en-US" sz="1800" dirty="0"/>
          </a:p>
        </p:txBody>
      </p:sp>
      <p:sp>
        <p:nvSpPr>
          <p:cNvPr id="18" name="Check 3 detail"/>
          <p:cNvSpPr txBox="1"/>
          <p:nvPr/>
        </p:nvSpPr>
        <p:spPr>
          <a:xfrm>
            <a:off x="1691640" y="3858768"/>
            <a:ext cx="4069080" cy="411480"/>
          </a:xfrm>
          <a:prstGeom prst="rect">
            <a:avLst/>
          </a:prstGeom>
          <a:noFill/>
          <a:ln/>
        </p:spPr>
        <p:txBody>
          <a:bodyPr wrap="square" lIns="0" tIns="0" rIns="0" bIns="0" rtlCol="0" anchor="t"/>
          <a:lstStyle/>
          <a:p>
            <a:pPr indent="0" marL="0">
              <a:buNone/>
            </a:pPr>
            <a:r>
              <a:rPr lang="en-US" sz="1400" dirty="0">
                <a:solidFill>
                  <a:schemeClr val="tx1"/>
                </a:solidFill>
              </a:rPr>
              <a:t>Builds #4 and #5 started by a GitHub push</a:t>
            </a:r>
            <a:endParaRPr lang="en-US" sz="1400" dirty="0"/>
          </a:p>
        </p:txBody>
      </p:sp>
      <p:sp>
        <p:nvSpPr>
          <p:cNvPr id="19" name="Check card 4"/>
          <p:cNvSpPr/>
          <p:nvPr/>
        </p:nvSpPr>
        <p:spPr>
          <a:xfrm>
            <a:off x="6172200" y="3200400"/>
            <a:ext cx="5440680" cy="1234440"/>
          </a:xfrm>
          <a:prstGeom prst="roundRect">
            <a:avLst>
              <a:gd name="adj" fmla="val 8889"/>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20" name="Check 4 circle"/>
          <p:cNvSpPr/>
          <p:nvPr/>
        </p:nvSpPr>
        <p:spPr>
          <a:xfrm>
            <a:off x="6446520" y="3474720"/>
            <a:ext cx="640080" cy="640080"/>
          </a:xfrm>
          <a:prstGeom prst="ellipse">
            <a:avLst/>
          </a:prstGeom>
          <a:solidFill>
            <a:schemeClr val="accent5"/>
          </a:solidFill>
          <a:ln w="12700">
            <a:solidFill>
              <a:schemeClr val="accent5"/>
            </a:solidFill>
            <a:prstDash val="solid"/>
          </a:ln>
        </p:spPr>
      </p:sp>
      <p:pic>
        <p:nvPicPr>
          <p:cNvPr id="21" name="Check 4 icon" descr="preencoded.png">    </p:cNvPr>
          <p:cNvPicPr>
            <a:picLocks noChangeAspect="1"/>
          </p:cNvPicPr>
          <p:nvPr/>
        </p:nvPicPr>
        <p:blipFill>
          <a:blip r:embed="rId4"/>
          <a:stretch>
            <a:fillRect/>
          </a:stretch>
        </p:blipFill>
        <p:spPr>
          <a:xfrm>
            <a:off x="6600139" y="3628339"/>
            <a:ext cx="332842" cy="332842"/>
          </a:xfrm>
          <a:prstGeom prst="rect">
            <a:avLst/>
          </a:prstGeom>
        </p:spPr>
      </p:pic>
      <p:sp>
        <p:nvSpPr>
          <p:cNvPr id="22" name="Check 4 title"/>
          <p:cNvSpPr txBox="1"/>
          <p:nvPr/>
        </p:nvSpPr>
        <p:spPr>
          <a:xfrm>
            <a:off x="7315200" y="3429000"/>
            <a:ext cx="4069080" cy="411480"/>
          </a:xfrm>
          <a:prstGeom prst="rect">
            <a:avLst/>
          </a:prstGeom>
          <a:noFill/>
          <a:ln/>
        </p:spPr>
        <p:txBody>
          <a:bodyPr wrap="square" lIns="0" tIns="0" rIns="0" bIns="0" rtlCol="0" anchor="t"/>
          <a:lstStyle/>
          <a:p>
            <a:pPr indent="0" marL="0">
              <a:buNone/>
            </a:pPr>
            <a:r>
              <a:rPr lang="en-US" sz="1800" b="1" dirty="0">
                <a:solidFill>
                  <a:schemeClr val="tx2"/>
                </a:solidFill>
              </a:rPr>
              <a:t>Images in ECR by git SHA</a:t>
            </a:r>
            <a:endParaRPr lang="en-US" sz="1800" dirty="0"/>
          </a:p>
        </p:txBody>
      </p:sp>
      <p:sp>
        <p:nvSpPr>
          <p:cNvPr id="23" name="Check 4 detail"/>
          <p:cNvSpPr txBox="1"/>
          <p:nvPr/>
        </p:nvSpPr>
        <p:spPr>
          <a:xfrm>
            <a:off x="7315200" y="3858768"/>
            <a:ext cx="4069080" cy="411480"/>
          </a:xfrm>
          <a:prstGeom prst="rect">
            <a:avLst/>
          </a:prstGeom>
          <a:noFill/>
          <a:ln/>
        </p:spPr>
        <p:txBody>
          <a:bodyPr wrap="square" lIns="0" tIns="0" rIns="0" bIns="0" rtlCol="0" anchor="t"/>
          <a:lstStyle/>
          <a:p>
            <a:pPr indent="0" marL="0">
              <a:buNone/>
            </a:pPr>
            <a:r>
              <a:rPr lang="en-US" sz="1400" dirty="0">
                <a:solidFill>
                  <a:schemeClr val="tx1"/>
                </a:solidFill>
              </a:rPr>
              <a:t>5 repositories, immutable tags</a:t>
            </a:r>
            <a:endParaRPr lang="en-US" sz="1400" dirty="0"/>
          </a:p>
        </p:txBody>
      </p:sp>
      <p:sp>
        <p:nvSpPr>
          <p:cNvPr id="24" name="Check card 5"/>
          <p:cNvSpPr/>
          <p:nvPr/>
        </p:nvSpPr>
        <p:spPr>
          <a:xfrm>
            <a:off x="548640" y="4617720"/>
            <a:ext cx="5440680" cy="1234440"/>
          </a:xfrm>
          <a:prstGeom prst="roundRect">
            <a:avLst>
              <a:gd name="adj" fmla="val 8889"/>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25" name="Check 5 circle"/>
          <p:cNvSpPr/>
          <p:nvPr/>
        </p:nvSpPr>
        <p:spPr>
          <a:xfrm>
            <a:off x="822960" y="4892040"/>
            <a:ext cx="640080" cy="640080"/>
          </a:xfrm>
          <a:prstGeom prst="ellipse">
            <a:avLst/>
          </a:prstGeom>
          <a:solidFill>
            <a:schemeClr val="accent5"/>
          </a:solidFill>
          <a:ln w="12700">
            <a:solidFill>
              <a:schemeClr val="accent5"/>
            </a:solidFill>
            <a:prstDash val="solid"/>
          </a:ln>
        </p:spPr>
      </p:sp>
      <p:pic>
        <p:nvPicPr>
          <p:cNvPr id="26" name="Check 5 icon" descr="preencoded.png">    </p:cNvPr>
          <p:cNvPicPr>
            <a:picLocks noChangeAspect="1"/>
          </p:cNvPicPr>
          <p:nvPr/>
        </p:nvPicPr>
        <p:blipFill>
          <a:blip r:embed="rId5"/>
          <a:stretch>
            <a:fillRect/>
          </a:stretch>
        </p:blipFill>
        <p:spPr>
          <a:xfrm>
            <a:off x="976579" y="5045659"/>
            <a:ext cx="332842" cy="332842"/>
          </a:xfrm>
          <a:prstGeom prst="rect">
            <a:avLst/>
          </a:prstGeom>
        </p:spPr>
      </p:pic>
      <p:sp>
        <p:nvSpPr>
          <p:cNvPr id="27" name="Check 5 title"/>
          <p:cNvSpPr txBox="1"/>
          <p:nvPr/>
        </p:nvSpPr>
        <p:spPr>
          <a:xfrm>
            <a:off x="1691640" y="4846320"/>
            <a:ext cx="4069080" cy="411480"/>
          </a:xfrm>
          <a:prstGeom prst="rect">
            <a:avLst/>
          </a:prstGeom>
          <a:noFill/>
          <a:ln/>
        </p:spPr>
        <p:txBody>
          <a:bodyPr wrap="square" lIns="0" tIns="0" rIns="0" bIns="0" rtlCol="0" anchor="t"/>
          <a:lstStyle/>
          <a:p>
            <a:pPr indent="0" marL="0">
              <a:buNone/>
            </a:pPr>
            <a:r>
              <a:rPr lang="en-US" sz="1800" b="1" dirty="0">
                <a:solidFill>
                  <a:schemeClr val="tx2"/>
                </a:solidFill>
              </a:rPr>
              <a:t>Live through the ALB</a:t>
            </a:r>
            <a:endParaRPr lang="en-US" sz="1800" dirty="0"/>
          </a:p>
        </p:txBody>
      </p:sp>
      <p:sp>
        <p:nvSpPr>
          <p:cNvPr id="28" name="Check 5 detail"/>
          <p:cNvSpPr txBox="1"/>
          <p:nvPr/>
        </p:nvSpPr>
        <p:spPr>
          <a:xfrm>
            <a:off x="1691640" y="5276088"/>
            <a:ext cx="4069080" cy="411480"/>
          </a:xfrm>
          <a:prstGeom prst="rect">
            <a:avLst/>
          </a:prstGeom>
          <a:noFill/>
          <a:ln/>
        </p:spPr>
        <p:txBody>
          <a:bodyPr wrap="square" lIns="0" tIns="0" rIns="0" bIns="0" rtlCol="0" anchor="t"/>
          <a:lstStyle/>
          <a:p>
            <a:pPr indent="0" marL="0">
              <a:buNone/>
            </a:pPr>
            <a:r>
              <a:rPr lang="en-US" sz="1400" dirty="0">
                <a:solidFill>
                  <a:schemeClr val="tx1"/>
                </a:solidFill>
              </a:rPr>
              <a:t>Smoke tests passed; app served in the browser</a:t>
            </a:r>
            <a:endParaRPr lang="en-US" sz="1400" dirty="0"/>
          </a:p>
        </p:txBody>
      </p:sp>
      <p:sp>
        <p:nvSpPr>
          <p:cNvPr id="29" name="Check card 6"/>
          <p:cNvSpPr/>
          <p:nvPr/>
        </p:nvSpPr>
        <p:spPr>
          <a:xfrm>
            <a:off x="6172200" y="4617720"/>
            <a:ext cx="5440680" cy="1234440"/>
          </a:xfrm>
          <a:prstGeom prst="roundRect">
            <a:avLst>
              <a:gd name="adj" fmla="val 8889"/>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30" name="Check 6 circle"/>
          <p:cNvSpPr/>
          <p:nvPr/>
        </p:nvSpPr>
        <p:spPr>
          <a:xfrm>
            <a:off x="6446520" y="4892040"/>
            <a:ext cx="640080" cy="640080"/>
          </a:xfrm>
          <a:prstGeom prst="ellipse">
            <a:avLst/>
          </a:prstGeom>
          <a:solidFill>
            <a:schemeClr val="accent5"/>
          </a:solidFill>
          <a:ln w="12700">
            <a:solidFill>
              <a:schemeClr val="accent5"/>
            </a:solidFill>
            <a:prstDash val="solid"/>
          </a:ln>
        </p:spPr>
      </p:sp>
      <p:pic>
        <p:nvPicPr>
          <p:cNvPr id="31" name="Check 6 icon" descr="preencoded.png">    </p:cNvPr>
          <p:cNvPicPr>
            <a:picLocks noChangeAspect="1"/>
          </p:cNvPicPr>
          <p:nvPr/>
        </p:nvPicPr>
        <p:blipFill>
          <a:blip r:embed="rId6"/>
          <a:stretch>
            <a:fillRect/>
          </a:stretch>
        </p:blipFill>
        <p:spPr>
          <a:xfrm>
            <a:off x="6600139" y="5045659"/>
            <a:ext cx="332842" cy="332842"/>
          </a:xfrm>
          <a:prstGeom prst="rect">
            <a:avLst/>
          </a:prstGeom>
        </p:spPr>
      </p:pic>
      <p:sp>
        <p:nvSpPr>
          <p:cNvPr id="32" name="Check 6 title"/>
          <p:cNvSpPr txBox="1"/>
          <p:nvPr/>
        </p:nvSpPr>
        <p:spPr>
          <a:xfrm>
            <a:off x="7315200" y="4846320"/>
            <a:ext cx="4069080" cy="411480"/>
          </a:xfrm>
          <a:prstGeom prst="rect">
            <a:avLst/>
          </a:prstGeom>
          <a:noFill/>
          <a:ln/>
        </p:spPr>
        <p:txBody>
          <a:bodyPr wrap="square" lIns="0" tIns="0" rIns="0" bIns="0" rtlCol="0" anchor="t"/>
          <a:lstStyle/>
          <a:p>
            <a:pPr indent="0" marL="0">
              <a:buNone/>
            </a:pPr>
            <a:r>
              <a:rPr lang="en-US" sz="1800" b="1" dirty="0">
                <a:solidFill>
                  <a:schemeClr val="tx2"/>
                </a:solidFill>
              </a:rPr>
              <a:t>Autoscaling and self-healing</a:t>
            </a:r>
            <a:endParaRPr lang="en-US" sz="1800" dirty="0"/>
          </a:p>
        </p:txBody>
      </p:sp>
      <p:sp>
        <p:nvSpPr>
          <p:cNvPr id="33" name="Check 6 detail"/>
          <p:cNvSpPr txBox="1"/>
          <p:nvPr/>
        </p:nvSpPr>
        <p:spPr>
          <a:xfrm>
            <a:off x="7315200" y="5276088"/>
            <a:ext cx="4069080" cy="411480"/>
          </a:xfrm>
          <a:prstGeom prst="rect">
            <a:avLst/>
          </a:prstGeom>
          <a:noFill/>
          <a:ln/>
        </p:spPr>
        <p:txBody>
          <a:bodyPr wrap="square" lIns="0" tIns="0" rIns="0" bIns="0" rtlCol="0" anchor="t"/>
          <a:lstStyle/>
          <a:p>
            <a:pPr indent="0" marL="0">
              <a:buNone/>
            </a:pPr>
            <a:r>
              <a:rPr lang="en-US" sz="1400" dirty="0">
                <a:solidFill>
                  <a:schemeClr val="tx1"/>
                </a:solidFill>
              </a:rPr>
              <a:t>HPA scales under load; deleted pods replaced</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3400" b="1" dirty="0">
                <a:solidFill>
                  <a:schemeClr val="tx2"/>
                </a:solidFill>
              </a:rPr>
              <a:t>Run on Free Plan Credits, Then Torn Down</a:t>
            </a:r>
            <a:endParaRPr lang="en-US" sz="3400" dirty="0"/>
          </a:p>
        </p:txBody>
      </p:sp>
      <p:sp>
        <p:nvSpPr>
          <p:cNvPr id="3" name="Text 0"/>
          <p:cNvSpPr/>
          <p:nvPr>
            <p:ph idx="101" type="body" hasCustomPrompt="1"/>
          </p:nvPr>
        </p:nvSpPr>
        <p:spPr>
          <a:xfrm>
            <a:off x="548640" y="1005840"/>
            <a:ext cx="11064240" cy="411480"/>
          </a:xfrm>
          <a:prstGeom prst="rect">
            <a:avLst/>
          </a:prstGeom>
          <a:noFill/>
          <a:ln/>
        </p:spPr>
        <p:txBody>
          <a:bodyPr wrap="square" lIns="0" tIns="0" rIns="0" bIns="0" rtlCol="0" anchor="t"/>
          <a:lstStyle/>
          <a:p>
            <a:pPr algn="l" indent="0" marL="0">
              <a:buNone/>
            </a:pPr>
            <a:r>
              <a:rPr lang="en-US" sz="1600" dirty="0">
                <a:solidFill>
                  <a:schemeClr val="accent4"/>
                </a:solidFill>
              </a:rPr>
              <a:t>Sized to Free Tier instance types and paused between sessions</a:t>
            </a:r>
            <a:endParaRPr lang="en-US" sz="1600" dirty="0"/>
          </a:p>
        </p:txBody>
      </p:sp>
      <p:sp>
        <p:nvSpPr>
          <p:cNvPr id="4" name="Cost card 1"/>
          <p:cNvSpPr/>
          <p:nvPr/>
        </p:nvSpPr>
        <p:spPr>
          <a:xfrm>
            <a:off x="548640" y="1783080"/>
            <a:ext cx="2606040" cy="2331720"/>
          </a:xfrm>
          <a:prstGeom prst="roundRect">
            <a:avLst>
              <a:gd name="adj" fmla="val 4706"/>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5" name="Cost 1 circle"/>
          <p:cNvSpPr/>
          <p:nvPr/>
        </p:nvSpPr>
        <p:spPr>
          <a:xfrm>
            <a:off x="822960" y="2057400"/>
            <a:ext cx="594360" cy="594360"/>
          </a:xfrm>
          <a:prstGeom prst="ellipse">
            <a:avLst/>
          </a:prstGeom>
          <a:solidFill>
            <a:schemeClr val="tx2"/>
          </a:solidFill>
          <a:ln w="12700">
            <a:solidFill>
              <a:schemeClr val="tx2"/>
            </a:solidFill>
            <a:prstDash val="solid"/>
          </a:ln>
        </p:spPr>
      </p:sp>
      <p:pic>
        <p:nvPicPr>
          <p:cNvPr id="6" name="Cost 1 icon" descr="preencoded.png">    </p:cNvPr>
          <p:cNvPicPr>
            <a:picLocks noChangeAspect="1"/>
          </p:cNvPicPr>
          <p:nvPr/>
        </p:nvPicPr>
        <p:blipFill>
          <a:blip r:embed="rId1"/>
          <a:stretch>
            <a:fillRect/>
          </a:stretch>
        </p:blipFill>
        <p:spPr>
          <a:xfrm>
            <a:off x="965606" y="2200046"/>
            <a:ext cx="309067" cy="309067"/>
          </a:xfrm>
          <a:prstGeom prst="rect">
            <a:avLst/>
          </a:prstGeom>
        </p:spPr>
      </p:pic>
      <p:sp>
        <p:nvSpPr>
          <p:cNvPr id="7" name="Cost 1 value"/>
          <p:cNvSpPr txBox="1"/>
          <p:nvPr/>
        </p:nvSpPr>
        <p:spPr>
          <a:xfrm>
            <a:off x="822960" y="2743200"/>
            <a:ext cx="2057400" cy="731520"/>
          </a:xfrm>
          <a:prstGeom prst="rect">
            <a:avLst/>
          </a:prstGeom>
          <a:noFill/>
          <a:ln/>
        </p:spPr>
        <p:txBody>
          <a:bodyPr wrap="square" lIns="0" tIns="0" rIns="0" bIns="0" rtlCol="0" anchor="t"/>
          <a:lstStyle/>
          <a:p>
            <a:pPr indent="0" marL="0">
              <a:buNone/>
            </a:pPr>
            <a:r>
              <a:rPr lang="en-US" sz="4000" b="1" dirty="0">
                <a:solidFill>
                  <a:schemeClr val="tx2"/>
                </a:solidFill>
              </a:rPr>
              <a:t>$138</a:t>
            </a:r>
            <a:endParaRPr lang="en-US" sz="4000" dirty="0"/>
          </a:p>
        </p:txBody>
      </p:sp>
      <p:sp>
        <p:nvSpPr>
          <p:cNvPr id="8" name="Cost 1 label"/>
          <p:cNvSpPr txBox="1"/>
          <p:nvPr/>
        </p:nvSpPr>
        <p:spPr>
          <a:xfrm>
            <a:off x="822960" y="3474720"/>
            <a:ext cx="2057400" cy="457200"/>
          </a:xfrm>
          <a:prstGeom prst="rect">
            <a:avLst/>
          </a:prstGeom>
          <a:noFill/>
          <a:ln/>
        </p:spPr>
        <p:txBody>
          <a:bodyPr wrap="square" lIns="0" tIns="0" rIns="0" bIns="0" rtlCol="0" anchor="t"/>
          <a:lstStyle/>
          <a:p>
            <a:pPr indent="0" marL="0">
              <a:buNone/>
            </a:pPr>
            <a:r>
              <a:rPr lang="en-US" sz="1500" dirty="0">
                <a:solidFill>
                  <a:schemeClr val="tx1"/>
                </a:solidFill>
              </a:rPr>
              <a:t>credits at the start</a:t>
            </a:r>
            <a:endParaRPr lang="en-US" sz="1500" dirty="0"/>
          </a:p>
        </p:txBody>
      </p:sp>
      <p:sp>
        <p:nvSpPr>
          <p:cNvPr id="9" name="Cost card 2"/>
          <p:cNvSpPr/>
          <p:nvPr/>
        </p:nvSpPr>
        <p:spPr>
          <a:xfrm>
            <a:off x="3383280" y="1783080"/>
            <a:ext cx="2606040" cy="2331720"/>
          </a:xfrm>
          <a:prstGeom prst="roundRect">
            <a:avLst>
              <a:gd name="adj" fmla="val 4706"/>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10" name="Cost 2 circle"/>
          <p:cNvSpPr/>
          <p:nvPr/>
        </p:nvSpPr>
        <p:spPr>
          <a:xfrm>
            <a:off x="3657600" y="2057400"/>
            <a:ext cx="594360" cy="594360"/>
          </a:xfrm>
          <a:prstGeom prst="ellipse">
            <a:avLst/>
          </a:prstGeom>
          <a:solidFill>
            <a:schemeClr val="tx2"/>
          </a:solidFill>
          <a:ln w="12700">
            <a:solidFill>
              <a:schemeClr val="tx2"/>
            </a:solidFill>
            <a:prstDash val="solid"/>
          </a:ln>
        </p:spPr>
      </p:sp>
      <p:pic>
        <p:nvPicPr>
          <p:cNvPr id="11" name="Cost 2 icon" descr="preencoded.png">    </p:cNvPr>
          <p:cNvPicPr>
            <a:picLocks noChangeAspect="1"/>
          </p:cNvPicPr>
          <p:nvPr/>
        </p:nvPicPr>
        <p:blipFill>
          <a:blip r:embed="rId2"/>
          <a:stretch>
            <a:fillRect/>
          </a:stretch>
        </p:blipFill>
        <p:spPr>
          <a:xfrm>
            <a:off x="3800246" y="2200046"/>
            <a:ext cx="309067" cy="309067"/>
          </a:xfrm>
          <a:prstGeom prst="rect">
            <a:avLst/>
          </a:prstGeom>
        </p:spPr>
      </p:pic>
      <p:sp>
        <p:nvSpPr>
          <p:cNvPr id="12" name="Cost 2 value"/>
          <p:cNvSpPr txBox="1"/>
          <p:nvPr/>
        </p:nvSpPr>
        <p:spPr>
          <a:xfrm>
            <a:off x="3657600" y="2743200"/>
            <a:ext cx="2057400" cy="731520"/>
          </a:xfrm>
          <a:prstGeom prst="rect">
            <a:avLst/>
          </a:prstGeom>
          <a:noFill/>
          <a:ln/>
        </p:spPr>
        <p:txBody>
          <a:bodyPr wrap="square" lIns="0" tIns="0" rIns="0" bIns="0" rtlCol="0" anchor="t"/>
          <a:lstStyle/>
          <a:p>
            <a:pPr indent="0" marL="0">
              <a:buNone/>
            </a:pPr>
            <a:r>
              <a:rPr lang="en-US" sz="4000" b="1" dirty="0">
                <a:solidFill>
                  <a:schemeClr val="tx2"/>
                </a:solidFill>
              </a:rPr>
              <a:t>~$7</a:t>
            </a:r>
            <a:endParaRPr lang="en-US" sz="4000" dirty="0"/>
          </a:p>
        </p:txBody>
      </p:sp>
      <p:sp>
        <p:nvSpPr>
          <p:cNvPr id="13" name="Cost 2 label"/>
          <p:cNvSpPr txBox="1"/>
          <p:nvPr/>
        </p:nvSpPr>
        <p:spPr>
          <a:xfrm>
            <a:off x="3657600" y="3474720"/>
            <a:ext cx="2057400" cy="457200"/>
          </a:xfrm>
          <a:prstGeom prst="rect">
            <a:avLst/>
          </a:prstGeom>
          <a:noFill/>
          <a:ln/>
        </p:spPr>
        <p:txBody>
          <a:bodyPr wrap="square" lIns="0" tIns="0" rIns="0" bIns="0" rtlCol="0" anchor="t"/>
          <a:lstStyle/>
          <a:p>
            <a:pPr indent="0" marL="0">
              <a:buNone/>
            </a:pPr>
            <a:r>
              <a:rPr lang="en-US" sz="1500" dirty="0">
                <a:solidFill>
                  <a:schemeClr val="tx1"/>
                </a:solidFill>
              </a:rPr>
              <a:t>per day, fully running</a:t>
            </a:r>
            <a:endParaRPr lang="en-US" sz="1500" dirty="0"/>
          </a:p>
        </p:txBody>
      </p:sp>
      <p:sp>
        <p:nvSpPr>
          <p:cNvPr id="14" name="Cost card 3"/>
          <p:cNvSpPr/>
          <p:nvPr/>
        </p:nvSpPr>
        <p:spPr>
          <a:xfrm>
            <a:off x="6217920" y="1783080"/>
            <a:ext cx="2606040" cy="2331720"/>
          </a:xfrm>
          <a:prstGeom prst="roundRect">
            <a:avLst>
              <a:gd name="adj" fmla="val 4706"/>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15" name="Cost 3 circle"/>
          <p:cNvSpPr/>
          <p:nvPr/>
        </p:nvSpPr>
        <p:spPr>
          <a:xfrm>
            <a:off x="6492240" y="2057400"/>
            <a:ext cx="594360" cy="594360"/>
          </a:xfrm>
          <a:prstGeom prst="ellipse">
            <a:avLst/>
          </a:prstGeom>
          <a:solidFill>
            <a:schemeClr val="tx2"/>
          </a:solidFill>
          <a:ln w="12700">
            <a:solidFill>
              <a:schemeClr val="tx2"/>
            </a:solidFill>
            <a:prstDash val="solid"/>
          </a:ln>
        </p:spPr>
      </p:sp>
      <p:pic>
        <p:nvPicPr>
          <p:cNvPr id="16" name="Cost 3 icon" descr="preencoded.png">    </p:cNvPr>
          <p:cNvPicPr>
            <a:picLocks noChangeAspect="1"/>
          </p:cNvPicPr>
          <p:nvPr/>
        </p:nvPicPr>
        <p:blipFill>
          <a:blip r:embed="rId3"/>
          <a:stretch>
            <a:fillRect/>
          </a:stretch>
        </p:blipFill>
        <p:spPr>
          <a:xfrm>
            <a:off x="6634886" y="2200046"/>
            <a:ext cx="309067" cy="309067"/>
          </a:xfrm>
          <a:prstGeom prst="rect">
            <a:avLst/>
          </a:prstGeom>
        </p:spPr>
      </p:pic>
      <p:sp>
        <p:nvSpPr>
          <p:cNvPr id="17" name="Cost 3 value"/>
          <p:cNvSpPr txBox="1"/>
          <p:nvPr/>
        </p:nvSpPr>
        <p:spPr>
          <a:xfrm>
            <a:off x="6492240" y="2743200"/>
            <a:ext cx="2057400" cy="731520"/>
          </a:xfrm>
          <a:prstGeom prst="rect">
            <a:avLst/>
          </a:prstGeom>
          <a:noFill/>
          <a:ln/>
        </p:spPr>
        <p:txBody>
          <a:bodyPr wrap="square" lIns="0" tIns="0" rIns="0" bIns="0" rtlCol="0" anchor="t"/>
          <a:lstStyle/>
          <a:p>
            <a:pPr indent="0" marL="0">
              <a:buNone/>
            </a:pPr>
            <a:r>
              <a:rPr lang="en-US" sz="4000" b="1" dirty="0">
                <a:solidFill>
                  <a:schemeClr val="tx2"/>
                </a:solidFill>
              </a:rPr>
              <a:t>~$4.35</a:t>
            </a:r>
            <a:endParaRPr lang="en-US" sz="4000" dirty="0"/>
          </a:p>
        </p:txBody>
      </p:sp>
      <p:sp>
        <p:nvSpPr>
          <p:cNvPr id="18" name="Cost 3 label"/>
          <p:cNvSpPr txBox="1"/>
          <p:nvPr/>
        </p:nvSpPr>
        <p:spPr>
          <a:xfrm>
            <a:off x="6492240" y="3474720"/>
            <a:ext cx="2057400" cy="457200"/>
          </a:xfrm>
          <a:prstGeom prst="rect">
            <a:avLst/>
          </a:prstGeom>
          <a:noFill/>
          <a:ln/>
        </p:spPr>
        <p:txBody>
          <a:bodyPr wrap="square" lIns="0" tIns="0" rIns="0" bIns="0" rtlCol="0" anchor="t"/>
          <a:lstStyle/>
          <a:p>
            <a:pPr indent="0" marL="0">
              <a:buNone/>
            </a:pPr>
            <a:r>
              <a:rPr lang="en-US" sz="1500" dirty="0">
                <a:solidFill>
                  <a:schemeClr val="tx1"/>
                </a:solidFill>
              </a:rPr>
              <a:t>per day, paused</a:t>
            </a:r>
            <a:endParaRPr lang="en-US" sz="1500" dirty="0"/>
          </a:p>
        </p:txBody>
      </p:sp>
      <p:sp>
        <p:nvSpPr>
          <p:cNvPr id="19" name="Cost card 4"/>
          <p:cNvSpPr/>
          <p:nvPr/>
        </p:nvSpPr>
        <p:spPr>
          <a:xfrm>
            <a:off x="9052560" y="1783080"/>
            <a:ext cx="2606040" cy="2331720"/>
          </a:xfrm>
          <a:prstGeom prst="roundRect">
            <a:avLst>
              <a:gd name="adj" fmla="val 4706"/>
            </a:avLst>
          </a:prstGeom>
          <a:solidFill>
            <a:schemeClr val="bg1"/>
          </a:solidFill>
          <a:ln w="12700">
            <a:solidFill>
              <a:schemeClr val="bg1"/>
            </a:solidFill>
            <a:prstDash val="solid"/>
          </a:ln>
          <a:effectLst>
            <a:outerShdw sx="100000" sy="100000" kx="0" ky="0" algn="bl" rotWithShape="0" blurRad="76200" dist="25400" dir="5400000">
              <a:srgbClr val="94A3B8">
                <a:alpha val="25000"/>
              </a:srgbClr>
            </a:outerShdw>
          </a:effectLst>
        </p:spPr>
      </p:sp>
      <p:sp>
        <p:nvSpPr>
          <p:cNvPr id="20" name="Cost 4 circle"/>
          <p:cNvSpPr/>
          <p:nvPr/>
        </p:nvSpPr>
        <p:spPr>
          <a:xfrm>
            <a:off x="9326880" y="2057400"/>
            <a:ext cx="594360" cy="594360"/>
          </a:xfrm>
          <a:prstGeom prst="ellipse">
            <a:avLst/>
          </a:prstGeom>
          <a:solidFill>
            <a:schemeClr val="tx2"/>
          </a:solidFill>
          <a:ln w="12700">
            <a:solidFill>
              <a:schemeClr val="tx2"/>
            </a:solidFill>
            <a:prstDash val="solid"/>
          </a:ln>
        </p:spPr>
      </p:sp>
      <p:pic>
        <p:nvPicPr>
          <p:cNvPr id="21" name="Cost 4 icon" descr="preencoded.png">    </p:cNvPr>
          <p:cNvPicPr>
            <a:picLocks noChangeAspect="1"/>
          </p:cNvPicPr>
          <p:nvPr/>
        </p:nvPicPr>
        <p:blipFill>
          <a:blip r:embed="rId4"/>
          <a:stretch>
            <a:fillRect/>
          </a:stretch>
        </p:blipFill>
        <p:spPr>
          <a:xfrm>
            <a:off x="9469526" y="2200046"/>
            <a:ext cx="309067" cy="309067"/>
          </a:xfrm>
          <a:prstGeom prst="rect">
            <a:avLst/>
          </a:prstGeom>
        </p:spPr>
      </p:pic>
      <p:sp>
        <p:nvSpPr>
          <p:cNvPr id="22" name="Cost 4 value"/>
          <p:cNvSpPr txBox="1"/>
          <p:nvPr/>
        </p:nvSpPr>
        <p:spPr>
          <a:xfrm>
            <a:off x="9326880" y="2743200"/>
            <a:ext cx="2057400" cy="731520"/>
          </a:xfrm>
          <a:prstGeom prst="rect">
            <a:avLst/>
          </a:prstGeom>
          <a:noFill/>
          <a:ln/>
        </p:spPr>
        <p:txBody>
          <a:bodyPr wrap="square" lIns="0" tIns="0" rIns="0" bIns="0" rtlCol="0" anchor="t"/>
          <a:lstStyle/>
          <a:p>
            <a:pPr indent="0" marL="0">
              <a:buNone/>
            </a:pPr>
            <a:r>
              <a:rPr lang="en-US" sz="4000" b="1" dirty="0">
                <a:solidFill>
                  <a:schemeClr val="tx2"/>
                </a:solidFill>
              </a:rPr>
              <a:t>91</a:t>
            </a:r>
            <a:endParaRPr lang="en-US" sz="4000" dirty="0"/>
          </a:p>
        </p:txBody>
      </p:sp>
      <p:sp>
        <p:nvSpPr>
          <p:cNvPr id="23" name="Cost 4 label"/>
          <p:cNvSpPr txBox="1"/>
          <p:nvPr/>
        </p:nvSpPr>
        <p:spPr>
          <a:xfrm>
            <a:off x="9326880" y="3474720"/>
            <a:ext cx="2057400" cy="457200"/>
          </a:xfrm>
          <a:prstGeom prst="rect">
            <a:avLst/>
          </a:prstGeom>
          <a:noFill/>
          <a:ln/>
        </p:spPr>
        <p:txBody>
          <a:bodyPr wrap="square" lIns="0" tIns="0" rIns="0" bIns="0" rtlCol="0" anchor="t"/>
          <a:lstStyle/>
          <a:p>
            <a:pPr indent="0" marL="0">
              <a:buNone/>
            </a:pPr>
            <a:r>
              <a:rPr lang="en-US" sz="1500" dirty="0">
                <a:solidFill>
                  <a:schemeClr val="tx1"/>
                </a:solidFill>
              </a:rPr>
              <a:t>Terraform resources destroyed</a:t>
            </a:r>
            <a:endParaRPr lang="en-US" sz="1500" dirty="0"/>
          </a:p>
        </p:txBody>
      </p:sp>
      <p:sp>
        <p:nvSpPr>
          <p:cNvPr id="24" name="Cost notes"/>
          <p:cNvSpPr txBox="1"/>
          <p:nvPr/>
        </p:nvSpPr>
        <p:spPr>
          <a:xfrm>
            <a:off x="548640" y="4389120"/>
            <a:ext cx="11064240" cy="17373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Jenkins on c7i-flex.large and 3 × t3.small Spot nodes, all Free Tier eligible</a:t>
            </a:r>
            <a:endParaRPr lang="en-US" sz="1500" dirty="0"/>
          </a:p>
          <a:p>
            <a:pPr marL="203200" indent="-203200">
              <a:spcAft>
                <a:spcPts val="600"/>
              </a:spcAft>
              <a:buSzPct val="100000"/>
              <a:buChar char="•"/>
            </a:pPr>
            <a:r>
              <a:rPr lang="en-US" sz="1500" dirty="0">
                <a:solidFill>
                  <a:schemeClr val="tx1"/>
                </a:solidFill>
              </a:rPr>
              <a:t>Between sessions: stop Jenkins and scale the node group to zero; the Elastic IP keeps the webhook URL</a:t>
            </a:r>
            <a:endParaRPr lang="en-US" sz="1500" dirty="0"/>
          </a:p>
          <a:p>
            <a:pPr marL="203200" indent="-203200">
              <a:spcAft>
                <a:spcPts val="600"/>
              </a:spcAft>
              <a:buSzPct val="100000"/>
              <a:buChar char="•"/>
            </a:pPr>
            <a:r>
              <a:rPr lang="en-US" sz="1500" dirty="0">
                <a:solidFill>
                  <a:schemeClr val="tx1"/>
                </a:solidFill>
              </a:rPr>
              <a:t>After evidence capture: ALB, volumes, ECR, buckets, state backend, OIDC providers and the IAM user deleted</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Closing circle"/>
          <p:cNvSpPr/>
          <p:nvPr/>
        </p:nvSpPr>
        <p:spPr>
          <a:xfrm>
            <a:off x="5501488" y="822960"/>
            <a:ext cx="1188720" cy="1188720"/>
          </a:xfrm>
          <a:prstGeom prst="ellipse">
            <a:avLst/>
          </a:prstGeom>
          <a:solidFill>
            <a:schemeClr val="accent1"/>
          </a:solidFill>
          <a:ln w="12700">
            <a:solidFill>
              <a:schemeClr val="accent1"/>
            </a:solidFill>
            <a:prstDash val="solid"/>
          </a:ln>
        </p:spPr>
      </p:sp>
      <p:pic>
        <p:nvPicPr>
          <p:cNvPr id="3" name="Closing icon" descr="preencoded.png">    </p:cNvPr>
          <p:cNvPicPr>
            <a:picLocks noChangeAspect="1"/>
          </p:cNvPicPr>
          <p:nvPr/>
        </p:nvPicPr>
        <p:blipFill>
          <a:blip r:embed="rId1"/>
          <a:stretch>
            <a:fillRect/>
          </a:stretch>
        </p:blipFill>
        <p:spPr>
          <a:xfrm>
            <a:off x="5786780" y="1108253"/>
            <a:ext cx="618134" cy="618134"/>
          </a:xfrm>
          <a:prstGeom prst="rect">
            <a:avLst/>
          </a:prstGeom>
        </p:spPr>
      </p:pic>
      <p:sp>
        <p:nvSpPr>
          <p:cNvPr id="4" name="Text 0"/>
          <p:cNvSpPr/>
          <p:nvPr>
            <p:ph idx="100" type="title" hasCustomPrompt="1"/>
          </p:nvPr>
        </p:nvSpPr>
        <p:spPr>
          <a:xfrm>
            <a:off x="822960" y="2331720"/>
            <a:ext cx="10515600" cy="822960"/>
          </a:xfrm>
          <a:prstGeom prst="rect">
            <a:avLst/>
          </a:prstGeom>
          <a:noFill/>
          <a:ln/>
        </p:spPr>
        <p:txBody>
          <a:bodyPr wrap="square" lIns="0" tIns="0" rIns="0" bIns="0" rtlCol="0"/>
          <a:lstStyle/>
          <a:p>
            <a:pPr algn="ctr" indent="0" marL="0">
              <a:buNone/>
            </a:pPr>
            <a:r>
              <a:rPr lang="en-US" sz="4000" b="1" dirty="0">
                <a:solidFill>
                  <a:schemeClr val="bg1"/>
                </a:solidFill>
              </a:rPr>
              <a:t>Sprints 3 &amp; 4 Complete</a:t>
            </a:r>
            <a:endParaRPr lang="en-US" sz="4000" dirty="0"/>
          </a:p>
        </p:txBody>
      </p:sp>
      <p:sp>
        <p:nvSpPr>
          <p:cNvPr id="5" name="Text 0"/>
          <p:cNvSpPr/>
          <p:nvPr>
            <p:ph idx="101" type="body" hasCustomPrompt="1"/>
          </p:nvPr>
        </p:nvSpPr>
        <p:spPr>
          <a:xfrm>
            <a:off x="1737360" y="3200400"/>
            <a:ext cx="8686800" cy="731520"/>
          </a:xfrm>
          <a:prstGeom prst="rect">
            <a:avLst/>
          </a:prstGeom>
          <a:noFill/>
          <a:ln/>
        </p:spPr>
        <p:txBody>
          <a:bodyPr wrap="square" lIns="0" tIns="0" rIns="0" bIns="0" rtlCol="0" anchor="t"/>
          <a:lstStyle/>
          <a:p>
            <a:pPr algn="ctr" indent="0" marL="0">
              <a:buNone/>
            </a:pPr>
            <a:r>
              <a:rPr lang="en-US" sz="1800" dirty="0">
                <a:solidFill>
                  <a:schemeClr val="accent6"/>
                </a:solidFill>
              </a:rPr>
              <a:t>A git push now tests, builds, deploys and verifies the app on EKS, on infrastructure that Jenkins provisions and Ansible configures</a:t>
            </a:r>
            <a:endParaRPr lang="en-US" sz="1800" dirty="0"/>
          </a:p>
        </p:txBody>
      </p:sp>
      <p:sp>
        <p:nvSpPr>
          <p:cNvPr id="6" name="Next card 1"/>
          <p:cNvSpPr/>
          <p:nvPr/>
        </p:nvSpPr>
        <p:spPr>
          <a:xfrm>
            <a:off x="1965960" y="4343400"/>
            <a:ext cx="4023360" cy="1325880"/>
          </a:xfrm>
          <a:prstGeom prst="roundRect">
            <a:avLst>
              <a:gd name="adj" fmla="val 8276"/>
            </a:avLst>
          </a:prstGeom>
          <a:solidFill>
            <a:srgbClr val="1F3352"/>
          </a:solidFill>
          <a:ln w="12700">
            <a:solidFill>
              <a:srgbClr val="2B4468"/>
            </a:solidFill>
            <a:prstDash val="solid"/>
          </a:ln>
        </p:spPr>
      </p:sp>
      <p:sp>
        <p:nvSpPr>
          <p:cNvPr id="7" name="Next 1 title"/>
          <p:cNvSpPr txBox="1"/>
          <p:nvPr/>
        </p:nvSpPr>
        <p:spPr>
          <a:xfrm>
            <a:off x="2240280" y="4526280"/>
            <a:ext cx="3474720" cy="365760"/>
          </a:xfrm>
          <a:prstGeom prst="rect">
            <a:avLst/>
          </a:prstGeom>
          <a:noFill/>
          <a:ln/>
        </p:spPr>
        <p:txBody>
          <a:bodyPr wrap="square" lIns="0" tIns="0" rIns="0" bIns="0" rtlCol="0" anchor="t"/>
          <a:lstStyle/>
          <a:p>
            <a:pPr indent="0" marL="0">
              <a:buNone/>
            </a:pPr>
            <a:r>
              <a:rPr lang="en-US" sz="1800" b="1" dirty="0">
                <a:solidFill>
                  <a:schemeClr val="accent1"/>
                </a:solidFill>
              </a:rPr>
              <a:t>Sprint 5</a:t>
            </a:r>
            <a:endParaRPr lang="en-US" sz="1800" dirty="0"/>
          </a:p>
        </p:txBody>
      </p:sp>
      <p:sp>
        <p:nvSpPr>
          <p:cNvPr id="8" name="Next 1 detail"/>
          <p:cNvSpPr txBox="1"/>
          <p:nvPr/>
        </p:nvSpPr>
        <p:spPr>
          <a:xfrm>
            <a:off x="2240280" y="4937760"/>
            <a:ext cx="3474720" cy="640080"/>
          </a:xfrm>
          <a:prstGeom prst="rect">
            <a:avLst/>
          </a:prstGeom>
          <a:noFill/>
          <a:ln/>
        </p:spPr>
        <p:txBody>
          <a:bodyPr wrap="square" lIns="0" tIns="0" rIns="0" bIns="0" rtlCol="0" anchor="t"/>
          <a:lstStyle/>
          <a:p>
            <a:pPr indent="0" marL="0">
              <a:buNone/>
            </a:pPr>
            <a:r>
              <a:rPr lang="en-US" sz="1500" dirty="0">
                <a:solidFill>
                  <a:schemeClr val="bg1"/>
                </a:solidFill>
              </a:rPr>
              <a:t>Prometheus, Grafana, alert rules and Jenkins notifications</a:t>
            </a:r>
            <a:endParaRPr lang="en-US" sz="1500" dirty="0"/>
          </a:p>
        </p:txBody>
      </p:sp>
      <p:sp>
        <p:nvSpPr>
          <p:cNvPr id="9" name="Next card 2"/>
          <p:cNvSpPr/>
          <p:nvPr/>
        </p:nvSpPr>
        <p:spPr>
          <a:xfrm>
            <a:off x="6217920" y="4343400"/>
            <a:ext cx="4023360" cy="1325880"/>
          </a:xfrm>
          <a:prstGeom prst="roundRect">
            <a:avLst>
              <a:gd name="adj" fmla="val 8276"/>
            </a:avLst>
          </a:prstGeom>
          <a:solidFill>
            <a:srgbClr val="1F3352"/>
          </a:solidFill>
          <a:ln w="12700">
            <a:solidFill>
              <a:srgbClr val="2B4468"/>
            </a:solidFill>
            <a:prstDash val="solid"/>
          </a:ln>
        </p:spPr>
      </p:sp>
      <p:sp>
        <p:nvSpPr>
          <p:cNvPr id="10" name="Next 2 title"/>
          <p:cNvSpPr txBox="1"/>
          <p:nvPr/>
        </p:nvSpPr>
        <p:spPr>
          <a:xfrm>
            <a:off x="6492240" y="4526280"/>
            <a:ext cx="3474720" cy="365760"/>
          </a:xfrm>
          <a:prstGeom prst="rect">
            <a:avLst/>
          </a:prstGeom>
          <a:noFill/>
          <a:ln/>
        </p:spPr>
        <p:txBody>
          <a:bodyPr wrap="square" lIns="0" tIns="0" rIns="0" bIns="0" rtlCol="0" anchor="t"/>
          <a:lstStyle/>
          <a:p>
            <a:pPr indent="0" marL="0">
              <a:buNone/>
            </a:pPr>
            <a:r>
              <a:rPr lang="en-US" sz="1800" b="1" dirty="0">
                <a:solidFill>
                  <a:schemeClr val="accent1"/>
                </a:solidFill>
              </a:rPr>
              <a:t>Sprint 6</a:t>
            </a:r>
            <a:endParaRPr lang="en-US" sz="1800" dirty="0"/>
          </a:p>
        </p:txBody>
      </p:sp>
      <p:sp>
        <p:nvSpPr>
          <p:cNvPr id="11" name="Next 2 detail"/>
          <p:cNvSpPr txBox="1"/>
          <p:nvPr/>
        </p:nvSpPr>
        <p:spPr>
          <a:xfrm>
            <a:off x="6492240" y="4937760"/>
            <a:ext cx="3474720" cy="640080"/>
          </a:xfrm>
          <a:prstGeom prst="rect">
            <a:avLst/>
          </a:prstGeom>
          <a:noFill/>
          <a:ln/>
        </p:spPr>
        <p:txBody>
          <a:bodyPr wrap="square" lIns="0" tIns="0" rIns="0" bIns="0" rtlCol="0" anchor="t"/>
          <a:lstStyle/>
          <a:p>
            <a:pPr indent="0" marL="0">
              <a:buNone/>
            </a:pPr>
            <a:r>
              <a:rPr lang="en-US" sz="1500" dirty="0">
                <a:solidFill>
                  <a:schemeClr val="bg1"/>
                </a:solidFill>
              </a:rPr>
              <a:t>Test cases, final documentation and end‑to‑end validation</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StreamingApp Sprint">
  <a:themeElements>
    <a:clrScheme name="StreamingApp Sprint">
      <a:dk1>
        <a:srgbClr val="1E293B"/>
      </a:dk1>
      <a:lt1>
        <a:srgbClr val="FFFFFF"/>
      </a:lt1>
      <a:dk2>
        <a:srgbClr val="16243D"/>
      </a:dk2>
      <a:lt2>
        <a:srgbClr val="F5F7FA"/>
      </a:lt2>
      <a:accent1>
        <a:srgbClr val="1AA39A"/>
      </a:accent1>
      <a:accent2>
        <a:srgbClr val="E8833A"/>
      </a:accent2>
      <a:accent3>
        <a:srgbClr val="16243D"/>
      </a:accent3>
      <a:accent4>
        <a:srgbClr val="64748B"/>
      </a:accent4>
      <a:accent5>
        <a:srgbClr val="2E9E5B"/>
      </a:accent5>
      <a:accent6>
        <a:srgbClr val="CFE9E6"/>
      </a:accent6>
      <a:hlink>
        <a:srgbClr val="1AA39A"/>
      </a:hlink>
      <a:folHlink>
        <a:srgbClr val="64748B"/>
      </a:folHlink>
    </a:clrScheme>
    <a:fontScheme name="StreamingApp Sprin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Sprints 3 &amp; 4 Progress — StreamingApp</dc:title>
  <dc:subject>Capstone: configuration management and CI/CD to EKS</dc:subject>
  <dc:creator>Apoorva Deshpande</dc:creator>
  <cp:lastModifiedBy>Apoorva Deshpande</cp:lastModifiedBy>
  <cp:revision>1</cp:revision>
  <dcterms:created xsi:type="dcterms:W3CDTF">2026-10-16T18:35:36Z</dcterms:created>
  <dcterms:modified xsi:type="dcterms:W3CDTF">2026-10-16T18:35:36Z</dcterms:modified>
</cp:coreProperties>
</file>