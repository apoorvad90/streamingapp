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4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60520"/>
            <a:ext cx="12191695" cy="38100"/>
          </a:xfrm>
          <a:prstGeom prst="rect">
            <a:avLst/>
          </a:prstGeom>
          <a:solidFill>
            <a:srgbClr val="17A3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 spc="200">
                <a:solidFill>
                  <a:srgbClr val="17A398"/>
                </a:solidFill>
                <a:latin typeface="Calibri"/>
              </a:rPr>
              <a:t>SPRINT 2  ·  PROGRESS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91640"/>
            <a:ext cx="106070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From Infrastructure to a
Live Application on AWS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C9D6E8"/>
                </a:solidFill>
                <a:latin typeface="Calibri"/>
              </a:rPr>
              <a:t>Stage 2: trial carried through to confirming the application is 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484"/>
                </a:solidFill>
                <a:latin typeface="Calibri"/>
              </a:rPr>
              <a:t>StreamingApp  ·  Capstone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222B3A"/>
                </a:solidFill>
                <a:latin typeface="Calibri"/>
              </a:rPr>
              <a:t>What This Stage Covers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60120"/>
            <a:ext cx="914400" cy="50800"/>
          </a:xfrm>
          <a:prstGeom prst="rect">
            <a:avLst/>
          </a:prstGeom>
          <a:solidFill>
            <a:srgbClr val="17A3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399032"/>
            <a:ext cx="502920" cy="502920"/>
          </a:xfrm>
          <a:prstGeom prst="rect">
            <a:avLst/>
          </a:prstGeom>
          <a:solidFill>
            <a:srgbClr val="14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99032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7008" y="1325880"/>
            <a:ext cx="469087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222B3A"/>
                </a:solidFill>
                <a:latin typeface="Calibri"/>
              </a:rPr>
              <a:t>AWS Identity &amp; CLI Setup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13432"/>
            <a:ext cx="502920" cy="502920"/>
          </a:xfrm>
          <a:prstGeom prst="rect">
            <a:avLst/>
          </a:prstGeom>
          <a:solidFill>
            <a:srgbClr val="14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313432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2240280"/>
            <a:ext cx="469087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222B3A"/>
                </a:solidFill>
                <a:latin typeface="Calibri"/>
              </a:rPr>
              <a:t>Terraform Backend Bootstrap (S3 + DynamoDB)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227832"/>
            <a:ext cx="502920" cy="502920"/>
          </a:xfrm>
          <a:prstGeom prst="rect">
            <a:avLst/>
          </a:prstGeom>
          <a:solidFill>
            <a:srgbClr val="14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227832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3154680"/>
            <a:ext cx="469087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222B3A"/>
                </a:solidFill>
                <a:latin typeface="Calibri"/>
              </a:rPr>
              <a:t>Networking — VPC, Subnets, Gateways &amp; Routing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142232"/>
            <a:ext cx="502920" cy="502920"/>
          </a:xfrm>
          <a:prstGeom prst="rect">
            <a:avLst/>
          </a:prstGeom>
          <a:solidFill>
            <a:srgbClr val="14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42232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4069080"/>
            <a:ext cx="469087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222B3A"/>
                </a:solidFill>
                <a:latin typeface="Calibri"/>
              </a:rPr>
              <a:t>Compute, Registry &amp; Storage — EKS, EC2, ECR, S3, DynamoDB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056632"/>
            <a:ext cx="502920" cy="502920"/>
          </a:xfrm>
          <a:prstGeom prst="rect">
            <a:avLst/>
          </a:prstGeom>
          <a:solidFill>
            <a:srgbClr val="14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056632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8" y="4983480"/>
            <a:ext cx="469087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222B3A"/>
                </a:solidFill>
                <a:latin typeface="Calibri"/>
              </a:rPr>
              <a:t>Kubernetes RBAC for the Terraform Identity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1399032"/>
            <a:ext cx="502920" cy="502920"/>
          </a:xfrm>
          <a:prstGeom prst="rect">
            <a:avLst/>
          </a:prstGeom>
          <a:solidFill>
            <a:srgbClr val="14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1399032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22008" y="1325880"/>
            <a:ext cx="469087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222B3A"/>
                </a:solidFill>
                <a:latin typeface="Calibri"/>
              </a:rPr>
              <a:t>Ansible Configuration of the Jenkins EC2 Host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2313432"/>
            <a:ext cx="502920" cy="502920"/>
          </a:xfrm>
          <a:prstGeom prst="rect">
            <a:avLst/>
          </a:prstGeom>
          <a:solidFill>
            <a:srgbClr val="14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2313432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22008" y="2240280"/>
            <a:ext cx="469087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222B3A"/>
                </a:solidFill>
                <a:latin typeface="Calibri"/>
              </a:rPr>
              <a:t>Docker Image Build &amp; Push to ECR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3227832"/>
            <a:ext cx="502920" cy="502920"/>
          </a:xfrm>
          <a:prstGeom prst="rect">
            <a:avLst/>
          </a:prstGeom>
          <a:solidFill>
            <a:srgbClr val="14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3227832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22008" y="3154680"/>
            <a:ext cx="469087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222B3A"/>
                </a:solidFill>
                <a:latin typeface="Calibri"/>
              </a:rPr>
              <a:t>Application Deployment via Helm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4142232"/>
            <a:ext cx="502920" cy="502920"/>
          </a:xfrm>
          <a:prstGeom prst="rect">
            <a:avLst/>
          </a:prstGeom>
          <a:solidFill>
            <a:srgbClr val="14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4142232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22008" y="4069080"/>
            <a:ext cx="469087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222B3A"/>
                </a:solidFill>
                <a:latin typeface="Calibri"/>
              </a:rPr>
              <a:t>Load Balancer, Ingress &amp; Jenkins Pipeline Test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5056632"/>
            <a:ext cx="502920" cy="502920"/>
          </a:xfrm>
          <a:prstGeom prst="rect">
            <a:avLst/>
          </a:prstGeom>
          <a:solidFill>
            <a:srgbClr val="14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5056632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22008" y="4983480"/>
            <a:ext cx="469087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222B3A"/>
                </a:solidFill>
                <a:latin typeface="Calibri"/>
              </a:rPr>
              <a:t>Result — Application Verified Live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656832"/>
            <a:ext cx="12191695" cy="25400"/>
          </a:xfrm>
          <a:prstGeom prst="rect">
            <a:avLst/>
          </a:prstGeom>
          <a:solidFill>
            <a:srgbClr val="E3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69340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484"/>
                </a:solidFill>
                <a:latin typeface="Calibri"/>
              </a:rPr>
              <a:t>Sprint 2 Progress — Part 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69340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484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4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8100"/>
          </a:xfrm>
          <a:prstGeom prst="rect">
            <a:avLst/>
          </a:prstGeom>
          <a:solidFill>
            <a:srgbClr val="17A3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058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7A398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82880"/>
            <a:ext cx="10332720" cy="56692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AWS Identity &amp; CLI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2728" y="749808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9D6E8"/>
                </a:solidFill>
                <a:latin typeface="Calibri"/>
              </a:rPr>
              <a:t>Establishing a trusted, scriptable identity for all AWS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>
                <a:solidFill>
                  <a:srgbClr val="17A398"/>
                </a:solidFill>
                <a:latin typeface="Calibri"/>
              </a:rPr>
              <a:t>✦  </a:t>
            </a:r>
            <a:r>
              <a:rPr sz="1700">
                <a:solidFill>
                  <a:srgbClr val="222B3A"/>
                </a:solidFill>
                <a:latin typeface="Calibri"/>
              </a:rPr>
              <a:t>Created a dedicated IAM user for programmatic Terraform / CLI access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>
                <a:solidFill>
                  <a:srgbClr val="17A398"/>
                </a:solidFill>
                <a:latin typeface="Calibri"/>
              </a:rPr>
              <a:t>✦  </a:t>
            </a:r>
            <a:r>
              <a:rPr sz="1700">
                <a:solidFill>
                  <a:srgbClr val="222B3A"/>
                </a:solidFill>
                <a:latin typeface="Calibri"/>
              </a:rPr>
              <a:t>Configured the AWS CLI locally with the new credentials and default region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>
                <a:solidFill>
                  <a:srgbClr val="17A398"/>
                </a:solidFill>
                <a:latin typeface="Calibri"/>
              </a:rPr>
              <a:t>✦  </a:t>
            </a:r>
            <a:r>
              <a:rPr sz="1700">
                <a:solidFill>
                  <a:srgbClr val="222B3A"/>
                </a:solidFill>
                <a:latin typeface="Calibri"/>
              </a:rPr>
              <a:t>Verified access ahead of any infrastructure changes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25400"/>
          </a:xfrm>
          <a:prstGeom prst="rect">
            <a:avLst/>
          </a:prstGeom>
          <a:solidFill>
            <a:srgbClr val="E3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69340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484"/>
                </a:solidFill>
                <a:latin typeface="Calibri"/>
              </a:rPr>
              <a:t>Sprint 2 Progress — Part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69340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484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4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8100"/>
          </a:xfrm>
          <a:prstGeom prst="rect">
            <a:avLst/>
          </a:prstGeom>
          <a:solidFill>
            <a:srgbClr val="17A3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058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7A398"/>
                </a:solidFill>
                <a:latin typeface="Calibr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82880"/>
            <a:ext cx="10332720" cy="56692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Terraform Backend Bootstrap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2728" y="749808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9D6E8"/>
                </a:solidFill>
                <a:latin typeface="Calibri"/>
              </a:rPr>
              <a:t>Standing up remote state storage and locking before the main config runs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>
                <a:solidFill>
                  <a:srgbClr val="17A398"/>
                </a:solidFill>
                <a:latin typeface="Calibri"/>
              </a:rPr>
              <a:t>✦  </a:t>
            </a:r>
            <a:r>
              <a:rPr sz="1700">
                <a:solidFill>
                  <a:srgbClr val="222B3A"/>
                </a:solidFill>
                <a:latin typeface="Calibri"/>
              </a:rPr>
              <a:t>Created the S3 bucket (streamingapp-tfstate) that holds Terraform's remote state file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>
                <a:solidFill>
                  <a:srgbClr val="17A398"/>
                </a:solidFill>
                <a:latin typeface="Calibri"/>
              </a:rPr>
              <a:t>✦  </a:t>
            </a:r>
            <a:r>
              <a:rPr sz="1700">
                <a:solidFill>
                  <a:srgbClr val="222B3A"/>
                </a:solidFill>
                <a:latin typeface="Calibri"/>
              </a:rPr>
              <a:t>Created the DynamoDB table (streamingapp-tflock) used purely for state locking, preventing concurrent applies from corrupting state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>
                <a:solidFill>
                  <a:srgbClr val="17A398"/>
                </a:solidFill>
                <a:latin typeface="Calibri"/>
              </a:rPr>
              <a:t>✦  </a:t>
            </a:r>
            <a:r>
              <a:rPr sz="1700">
                <a:solidFill>
                  <a:srgbClr val="222B3A"/>
                </a:solidFill>
                <a:latin typeface="Calibri"/>
              </a:rPr>
              <a:t>Bootstrapped both outside the main Terraform run to avoid the chicken-and-egg problem of Terraform managing the very backend it stores its state in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>
                <a:solidFill>
                  <a:srgbClr val="17A398"/>
                </a:solidFill>
                <a:latin typeface="Calibri"/>
              </a:rPr>
              <a:t>✦  </a:t>
            </a:r>
            <a:r>
              <a:rPr sz="1700">
                <a:solidFill>
                  <a:srgbClr val="222B3A"/>
                </a:solidFill>
                <a:latin typeface="Calibri"/>
              </a:rPr>
              <a:t>Re-ran terraform init to point the backend at the new bucket and table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5989320"/>
            <a:ext cx="10607040" cy="502920"/>
          </a:xfrm>
          <a:prstGeom prst="rect">
            <a:avLst/>
          </a:prstGeom>
          <a:solidFill>
            <a:srgbClr val="E3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5989320"/>
            <a:ext cx="10241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14243D"/>
                </a:solidFill>
                <a:latin typeface="Calibri"/>
              </a:rPr>
              <a:t>Why first: the S3 backend must already exist before ‘terraform init’ can target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56832"/>
            <a:ext cx="12191695" cy="25400"/>
          </a:xfrm>
          <a:prstGeom prst="rect">
            <a:avLst/>
          </a:prstGeom>
          <a:solidFill>
            <a:srgbClr val="E3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69340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484"/>
                </a:solidFill>
                <a:latin typeface="Calibri"/>
              </a:rPr>
              <a:t>Sprint 2 Progress — Part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69340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484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4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8100"/>
          </a:xfrm>
          <a:prstGeom prst="rect">
            <a:avLst/>
          </a:prstGeom>
          <a:solidFill>
            <a:srgbClr val="17A3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058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7A398"/>
                </a:solidFill>
                <a:latin typeface="Calibr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82880"/>
            <a:ext cx="10332720" cy="56692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Networking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2728" y="749808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9D6E8"/>
                </a:solidFill>
                <a:latin typeface="Calibri"/>
              </a:rPr>
              <a:t>Core VPC layout provisioned and verified on real 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>
                <a:solidFill>
                  <a:srgbClr val="17A398"/>
                </a:solidFill>
                <a:latin typeface="Calibri"/>
              </a:rPr>
              <a:t>✦  </a:t>
            </a:r>
            <a:r>
              <a:rPr sz="1700">
                <a:solidFill>
                  <a:srgbClr val="222B3A"/>
                </a:solidFill>
                <a:latin typeface="Calibri"/>
              </a:rPr>
              <a:t>VPC created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>
                <a:solidFill>
                  <a:srgbClr val="17A398"/>
                </a:solidFill>
                <a:latin typeface="Calibri"/>
              </a:rPr>
              <a:t>✦  </a:t>
            </a:r>
            <a:r>
              <a:rPr sz="1700">
                <a:solidFill>
                  <a:srgbClr val="222B3A"/>
                </a:solidFill>
                <a:latin typeface="Calibri"/>
              </a:rPr>
              <a:t>2 public and 2 private subnets provisioned across availability zones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>
                <a:solidFill>
                  <a:srgbClr val="17A398"/>
                </a:solidFill>
                <a:latin typeface="Calibri"/>
              </a:rPr>
              <a:t>✦  </a:t>
            </a:r>
            <a:r>
              <a:rPr sz="1700">
                <a:solidFill>
                  <a:srgbClr val="222B3A"/>
                </a:solidFill>
                <a:latin typeface="Calibri"/>
              </a:rPr>
              <a:t>1 NAT Gateway deployed for private-subnet outbound access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>
                <a:solidFill>
                  <a:srgbClr val="17A398"/>
                </a:solidFill>
                <a:latin typeface="Calibri"/>
              </a:rPr>
              <a:t>✦  </a:t>
            </a:r>
            <a:r>
              <a:rPr sz="1700">
                <a:solidFill>
                  <a:srgbClr val="222B3A"/>
                </a:solidFill>
                <a:latin typeface="Calibri"/>
              </a:rPr>
              <a:t>1 Internet Gateway attached for public-subnet access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>
                <a:solidFill>
                  <a:srgbClr val="17A398"/>
                </a:solidFill>
                <a:latin typeface="Calibri"/>
              </a:rPr>
              <a:t>✦  </a:t>
            </a:r>
            <a:r>
              <a:rPr sz="1700">
                <a:solidFill>
                  <a:srgbClr val="222B3A"/>
                </a:solidFill>
                <a:latin typeface="Calibri"/>
              </a:rPr>
              <a:t>Public route table configured and associated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>
                <a:solidFill>
                  <a:srgbClr val="17A398"/>
                </a:solidFill>
                <a:latin typeface="Calibri"/>
              </a:rPr>
              <a:t>✦  </a:t>
            </a:r>
            <a:r>
              <a:rPr sz="1700">
                <a:solidFill>
                  <a:srgbClr val="222B3A"/>
                </a:solidFill>
                <a:latin typeface="Calibri"/>
              </a:rPr>
              <a:t>Private route table configured and associated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25400"/>
          </a:xfrm>
          <a:prstGeom prst="rect">
            <a:avLst/>
          </a:prstGeom>
          <a:solidFill>
            <a:srgbClr val="E3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69340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484"/>
                </a:solidFill>
                <a:latin typeface="Calibri"/>
              </a:rPr>
              <a:t>Sprint 2 Progress — Part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69340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484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4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8100"/>
          </a:xfrm>
          <a:prstGeom prst="rect">
            <a:avLst/>
          </a:prstGeom>
          <a:solidFill>
            <a:srgbClr val="17A3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058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7A398"/>
                </a:solidFill>
                <a:latin typeface="Calibr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82880"/>
            <a:ext cx="10332720" cy="56692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Compute, Registry &amp; Storage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2728" y="749808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9D6E8"/>
                </a:solidFill>
                <a:latin typeface="Calibri"/>
              </a:rPr>
              <a:t>Application-hosting infrastructure created via Terraform apply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>
                <a:solidFill>
                  <a:srgbClr val="17A398"/>
                </a:solidFill>
                <a:latin typeface="Calibri"/>
              </a:rPr>
              <a:t>✦  </a:t>
            </a:r>
            <a:r>
              <a:rPr sz="1700">
                <a:solidFill>
                  <a:srgbClr val="222B3A"/>
                </a:solidFill>
                <a:latin typeface="Calibri"/>
              </a:rPr>
              <a:t>Streaming app EKS cluster created with its node group and worker nodes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>
                <a:solidFill>
                  <a:srgbClr val="17A398"/>
                </a:solidFill>
                <a:latin typeface="Calibri"/>
              </a:rPr>
              <a:t>✦  </a:t>
            </a:r>
            <a:r>
              <a:rPr sz="1700">
                <a:solidFill>
                  <a:srgbClr val="222B3A"/>
                </a:solidFill>
                <a:latin typeface="Calibri"/>
              </a:rPr>
              <a:t>EC2 instance (Jenkins host) provisioned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>
                <a:solidFill>
                  <a:srgbClr val="17A398"/>
                </a:solidFill>
                <a:latin typeface="Calibri"/>
              </a:rPr>
              <a:t>✦  </a:t>
            </a:r>
            <a:r>
              <a:rPr sz="1700">
                <a:solidFill>
                  <a:srgbClr val="222B3A"/>
                </a:solidFill>
                <a:latin typeface="Calibri"/>
              </a:rPr>
              <a:t>ECR repositories created, with images pushed to the registry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>
                <a:solidFill>
                  <a:srgbClr val="17A398"/>
                </a:solidFill>
                <a:latin typeface="Calibri"/>
              </a:rPr>
              <a:t>✦  </a:t>
            </a:r>
            <a:r>
              <a:rPr sz="1700">
                <a:solidFill>
                  <a:srgbClr val="222B3A"/>
                </a:solidFill>
                <a:latin typeface="Calibri"/>
              </a:rPr>
              <a:t>S3 resources provisioned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>
                <a:solidFill>
                  <a:srgbClr val="17A398"/>
                </a:solidFill>
                <a:latin typeface="Calibri"/>
              </a:rPr>
              <a:t>✦  </a:t>
            </a:r>
            <a:r>
              <a:rPr sz="1700">
                <a:solidFill>
                  <a:srgbClr val="222B3A"/>
                </a:solidFill>
                <a:latin typeface="Calibri"/>
              </a:rPr>
              <a:t>DynamoDB table provisioned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25400"/>
          </a:xfrm>
          <a:prstGeom prst="rect">
            <a:avLst/>
          </a:prstGeom>
          <a:solidFill>
            <a:srgbClr val="E3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69340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484"/>
                </a:solidFill>
                <a:latin typeface="Calibri"/>
              </a:rPr>
              <a:t>Sprint 2 Progress — Part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69340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484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4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8100"/>
          </a:xfrm>
          <a:prstGeom prst="rect">
            <a:avLst/>
          </a:prstGeom>
          <a:solidFill>
            <a:srgbClr val="17A3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058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7A398"/>
                </a:solidFill>
                <a:latin typeface="Calibr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82880"/>
            <a:ext cx="10332720" cy="56692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Kubernetes RBAC for Terraform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2728" y="749808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9D6E8"/>
                </a:solidFill>
                <a:latin typeface="Calibri"/>
              </a:rPr>
              <a:t>Bridging the AWS identity that runs Terraform with cluster permissions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>
                <a:solidFill>
                  <a:srgbClr val="17A398"/>
                </a:solidFill>
                <a:latin typeface="Calibri"/>
              </a:rPr>
              <a:t>✦  </a:t>
            </a:r>
            <a:r>
              <a:rPr sz="1700">
                <a:solidFill>
                  <a:srgbClr val="222B3A"/>
                </a:solidFill>
                <a:latin typeface="Calibri"/>
              </a:rPr>
              <a:t>Granted the Terraform identity Kubernetes RBAC access on the new EKS cluster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>
                <a:solidFill>
                  <a:srgbClr val="17A398"/>
                </a:solidFill>
                <a:latin typeface="Calibri"/>
              </a:rPr>
              <a:t>✦  </a:t>
            </a:r>
            <a:r>
              <a:rPr sz="1700">
                <a:solidFill>
                  <a:srgbClr val="222B3A"/>
                </a:solidFill>
                <a:latin typeface="Calibri"/>
              </a:rPr>
              <a:t>Enables subsequent kubectl / Helm operations to authenticate against the cluster using the same trusted identity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25400"/>
          </a:xfrm>
          <a:prstGeom prst="rect">
            <a:avLst/>
          </a:prstGeom>
          <a:solidFill>
            <a:srgbClr val="E3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69340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484"/>
                </a:solidFill>
                <a:latin typeface="Calibri"/>
              </a:rPr>
              <a:t>Sprint 2 Progress — Part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69340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484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4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8100"/>
          </a:xfrm>
          <a:prstGeom prst="rect">
            <a:avLst/>
          </a:prstGeom>
          <a:solidFill>
            <a:srgbClr val="17A3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058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7A398"/>
                </a:solidFill>
                <a:latin typeface="Calibr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82880"/>
            <a:ext cx="10332720" cy="56692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Ansible Configuration of Jenkins EC2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2728" y="749808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9D6E8"/>
                </a:solidFill>
                <a:latin typeface="Calibri"/>
              </a:rPr>
              <a:t>Configuring the CI host through the dynamic AWS inventory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>
                <a:solidFill>
                  <a:srgbClr val="17A398"/>
                </a:solidFill>
                <a:latin typeface="Calibri"/>
              </a:rPr>
              <a:t>✦  </a:t>
            </a:r>
            <a:r>
              <a:rPr sz="1700">
                <a:solidFill>
                  <a:srgbClr val="222B3A"/>
                </a:solidFill>
                <a:latin typeface="Calibri"/>
              </a:rPr>
              <a:t>Generated a new SSH key pair and updated EC2.tf to attach it to the Jenkins instance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>
                <a:solidFill>
                  <a:srgbClr val="17A398"/>
                </a:solidFill>
                <a:latin typeface="Calibri"/>
              </a:rPr>
              <a:t>✦  </a:t>
            </a:r>
            <a:r>
              <a:rPr sz="1700">
                <a:solidFill>
                  <a:srgbClr val="222B3A"/>
                </a:solidFill>
                <a:latin typeface="Calibri"/>
              </a:rPr>
              <a:t>Copied the private key into WSL's native filesystem for use by Ansible over SSH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>
                <a:solidFill>
                  <a:srgbClr val="17A398"/>
                </a:solidFill>
                <a:latin typeface="Calibri"/>
              </a:rPr>
              <a:t>✦  </a:t>
            </a:r>
            <a:r>
              <a:rPr sz="1700">
                <a:solidFill>
                  <a:srgbClr val="222B3A"/>
                </a:solidFill>
                <a:latin typeface="Calibri"/>
              </a:rPr>
              <a:t>Ran the Ansible playbook against the EC2 host via the dynamic AWS inventory — real SSH connection, zero failures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25400"/>
          </a:xfrm>
          <a:prstGeom prst="rect">
            <a:avLst/>
          </a:prstGeom>
          <a:solidFill>
            <a:srgbClr val="E3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69340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484"/>
                </a:solidFill>
                <a:latin typeface="Calibri"/>
              </a:rPr>
              <a:t>Sprint 2 Progress — Part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69340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484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4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8100"/>
          </a:xfrm>
          <a:prstGeom prst="rect">
            <a:avLst/>
          </a:prstGeom>
          <a:solidFill>
            <a:srgbClr val="17A3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058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7A398"/>
                </a:solidFill>
                <a:latin typeface="Calibr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82880"/>
            <a:ext cx="10332720" cy="56692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Docker Image Build &amp; Push to ECR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2728" y="749808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9D6E8"/>
                </a:solidFill>
                <a:latin typeface="Calibri"/>
              </a:rPr>
              <a:t>Building each microservice image and publishing it to the registry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>
                <a:solidFill>
                  <a:srgbClr val="17A398"/>
                </a:solidFill>
                <a:latin typeface="Calibri"/>
              </a:rPr>
              <a:t>✦  </a:t>
            </a:r>
            <a:r>
              <a:rPr sz="1700">
                <a:solidFill>
                  <a:srgbClr val="222B3A"/>
                </a:solidFill>
                <a:latin typeface="Calibri"/>
              </a:rPr>
              <a:t>Built the frontend image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>
                <a:solidFill>
                  <a:srgbClr val="17A398"/>
                </a:solidFill>
                <a:latin typeface="Calibri"/>
              </a:rPr>
              <a:t>✦  </a:t>
            </a:r>
            <a:r>
              <a:rPr sz="1700">
                <a:solidFill>
                  <a:srgbClr val="222B3A"/>
                </a:solidFill>
                <a:latin typeface="Calibri"/>
              </a:rPr>
              <a:t>Built the auth-service image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>
                <a:solidFill>
                  <a:srgbClr val="17A398"/>
                </a:solidFill>
                <a:latin typeface="Calibri"/>
              </a:rPr>
              <a:t>✦  </a:t>
            </a:r>
            <a:r>
              <a:rPr sz="1700">
                <a:solidFill>
                  <a:srgbClr val="222B3A"/>
                </a:solidFill>
                <a:latin typeface="Calibri"/>
              </a:rPr>
              <a:t>Built the streaming-service image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>
                <a:solidFill>
                  <a:srgbClr val="17A398"/>
                </a:solidFill>
                <a:latin typeface="Calibri"/>
              </a:rPr>
              <a:t>✦  </a:t>
            </a:r>
            <a:r>
              <a:rPr sz="1700">
                <a:solidFill>
                  <a:srgbClr val="222B3A"/>
                </a:solidFill>
                <a:latin typeface="Calibri"/>
              </a:rPr>
              <a:t>Built the admin-service image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>
                <a:solidFill>
                  <a:srgbClr val="17A398"/>
                </a:solidFill>
                <a:latin typeface="Calibri"/>
              </a:rPr>
              <a:t>✦  </a:t>
            </a:r>
            <a:r>
              <a:rPr sz="1700">
                <a:solidFill>
                  <a:srgbClr val="222B3A"/>
                </a:solidFill>
                <a:latin typeface="Calibri"/>
              </a:rPr>
              <a:t>Built the chat-service image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>
                <a:solidFill>
                  <a:srgbClr val="17A398"/>
                </a:solidFill>
                <a:latin typeface="Calibri"/>
              </a:rPr>
              <a:t>✦  </a:t>
            </a:r>
            <a:r>
              <a:rPr sz="1700">
                <a:solidFill>
                  <a:srgbClr val="222B3A"/>
                </a:solidFill>
                <a:latin typeface="Calibri"/>
              </a:rPr>
              <a:t>Pushed all five images to their ECR repositories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25400"/>
          </a:xfrm>
          <a:prstGeom prst="rect">
            <a:avLst/>
          </a:prstGeom>
          <a:solidFill>
            <a:srgbClr val="E3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69340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484"/>
                </a:solidFill>
                <a:latin typeface="Calibri"/>
              </a:rPr>
              <a:t>Sprint 2 Progress — Part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69340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484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4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8100"/>
          </a:xfrm>
          <a:prstGeom prst="rect">
            <a:avLst/>
          </a:prstGeom>
          <a:solidFill>
            <a:srgbClr val="17A3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058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7A398"/>
                </a:solidFill>
                <a:latin typeface="Calibri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82880"/>
            <a:ext cx="10332720" cy="56692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Application Deployment via Helm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2728" y="749808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9D6E8"/>
                </a:solidFill>
                <a:latin typeface="Calibri"/>
              </a:rPr>
              <a:t>Rolling the freshly built images out to the EKS cluster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>
                <a:solidFill>
                  <a:srgbClr val="17A398"/>
                </a:solidFill>
                <a:latin typeface="Calibri"/>
              </a:rPr>
              <a:t>✦  </a:t>
            </a:r>
            <a:r>
              <a:rPr sz="1700">
                <a:solidFill>
                  <a:srgbClr val="222B3A"/>
                </a:solidFill>
                <a:latin typeface="Calibri"/>
              </a:rPr>
              <a:t>Populated the real application secret in the cluster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>
                <a:solidFill>
                  <a:srgbClr val="17A398"/>
                </a:solidFill>
                <a:latin typeface="Calibri"/>
              </a:rPr>
              <a:t>✦  </a:t>
            </a:r>
            <a:r>
              <a:rPr sz="1700">
                <a:solidFill>
                  <a:srgbClr val="222B3A"/>
                </a:solidFill>
                <a:latin typeface="Calibri"/>
              </a:rPr>
              <a:t>Deployed MongoDB and the core application components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>
                <a:solidFill>
                  <a:srgbClr val="17A398"/>
                </a:solidFill>
                <a:latin typeface="Calibri"/>
              </a:rPr>
              <a:t>✦  </a:t>
            </a:r>
            <a:r>
              <a:rPr sz="1700">
                <a:solidFill>
                  <a:srgbClr val="222B3A"/>
                </a:solidFill>
                <a:latin typeface="Calibri"/>
              </a:rPr>
              <a:t>Deployed all 5 services via Helm, overriding the image tag to the versions just pushed to ECR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>
                <a:solidFill>
                  <a:srgbClr val="17A398"/>
                </a:solidFill>
                <a:latin typeface="Calibri"/>
              </a:rPr>
              <a:t>✦  </a:t>
            </a:r>
            <a:r>
              <a:rPr sz="1700">
                <a:solidFill>
                  <a:srgbClr val="222B3A"/>
                </a:solidFill>
                <a:latin typeface="Calibri"/>
              </a:rPr>
              <a:t>Confirmed all pods reached a Running state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25400"/>
          </a:xfrm>
          <a:prstGeom prst="rect">
            <a:avLst/>
          </a:prstGeom>
          <a:solidFill>
            <a:srgbClr val="E3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69340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484"/>
                </a:solidFill>
                <a:latin typeface="Calibri"/>
              </a:rPr>
              <a:t>Sprint 2 Progress — Part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69340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484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4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8100"/>
          </a:xfrm>
          <a:prstGeom prst="rect">
            <a:avLst/>
          </a:prstGeom>
          <a:solidFill>
            <a:srgbClr val="17A3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058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7A398"/>
                </a:solidFill>
                <a:latin typeface="Calibri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82880"/>
            <a:ext cx="10332720" cy="56692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Load Balancer, Ingress &amp; Pipeline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2728" y="749808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9D6E8"/>
                </a:solidFill>
                <a:latin typeface="Calibri"/>
              </a:rPr>
              <a:t>Exposing the application and validating the CI pipeline end to 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>
                <a:solidFill>
                  <a:srgbClr val="17A398"/>
                </a:solidFill>
                <a:latin typeface="Calibri"/>
              </a:rPr>
              <a:t>✦  </a:t>
            </a:r>
            <a:r>
              <a:rPr sz="1700">
                <a:solidFill>
                  <a:srgbClr val="222B3A"/>
                </a:solidFill>
                <a:latin typeface="Calibri"/>
              </a:rPr>
              <a:t>Installed the AWS Load Balancer Controller and configured Ingress for external access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>
                <a:solidFill>
                  <a:srgbClr val="17A398"/>
                </a:solidFill>
                <a:latin typeface="Calibri"/>
              </a:rPr>
              <a:t>✦  </a:t>
            </a:r>
            <a:r>
              <a:rPr sz="1700">
                <a:solidFill>
                  <a:srgbClr val="222B3A"/>
                </a:solidFill>
                <a:latin typeface="Calibri"/>
              </a:rPr>
              <a:t>Ran the Jenkinsfile through Jenkins to validate the CI/CD pipeline against real AWS infrastructure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25400"/>
          </a:xfrm>
          <a:prstGeom prst="rect">
            <a:avLst/>
          </a:prstGeom>
          <a:solidFill>
            <a:srgbClr val="E3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69340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484"/>
                </a:solidFill>
                <a:latin typeface="Calibri"/>
              </a:rPr>
              <a:t>Sprint 2 Progress — Part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69340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484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4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A3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367528" y="1051560"/>
            <a:ext cx="1463040" cy="1463040"/>
          </a:xfrm>
          <a:prstGeom prst="ellipse">
            <a:avLst/>
          </a:prstGeom>
          <a:solidFill>
            <a:srgbClr val="17A3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6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803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The App Is 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3703320"/>
            <a:ext cx="8686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0" i="0">
                <a:solidFill>
                  <a:srgbClr val="C9D6E8"/>
                </a:solidFill>
                <a:latin typeface="Calibri"/>
              </a:rPr>
              <a:t>End-to-end path verified on real AWS infrastructure: identity and CLI, Terraform-provisioned network and cluster, Ansible-configured CI host, freshly built images deployed via Helm, and traffic reaching the app through the Load Balancer and Ingress.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17A398"/>
                </a:solidFill>
                <a:latin typeface="Calibri"/>
              </a:rPr>
              <a:t>Not a local demo — provisioned, deployed, and confirmed running on actual AWS resources.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6934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A97AC"/>
                </a:solidFill>
                <a:latin typeface="Calibri"/>
              </a:rPr>
              <a:t>Sprint 2 Progress — Part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69340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A97AC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